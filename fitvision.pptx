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6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8" r:id="rId5"/>
    <p:sldId id="265" r:id="rId6"/>
    <p:sldId id="261" r:id="rId7"/>
    <p:sldId id="263" r:id="rId8"/>
    <p:sldId id="264" r:id="rId9"/>
    <p:sldId id="266" r:id="rId10"/>
    <p:sldId id="267" r:id="rId11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854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49" y="253"/>
            <a:ext cx="4286250" cy="6438645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5" y="5926073"/>
            <a:ext cx="1754504" cy="41910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1242" y="5811888"/>
            <a:ext cx="11392535" cy="621030"/>
          </a:xfrm>
          <a:custGeom>
            <a:avLst/>
            <a:gdLst/>
            <a:ahLst/>
            <a:cxnLst/>
            <a:rect l="l" t="t" r="r" b="b"/>
            <a:pathLst>
              <a:path w="11392535" h="621029">
                <a:moveTo>
                  <a:pt x="11392408" y="0"/>
                </a:moveTo>
                <a:lnTo>
                  <a:pt x="0" y="0"/>
                </a:lnTo>
                <a:lnTo>
                  <a:pt x="0" y="620648"/>
                </a:lnTo>
                <a:lnTo>
                  <a:pt x="11392408" y="620648"/>
                </a:lnTo>
                <a:lnTo>
                  <a:pt x="1139240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242" y="5811888"/>
            <a:ext cx="11392535" cy="621030"/>
          </a:xfrm>
          <a:custGeom>
            <a:avLst/>
            <a:gdLst/>
            <a:ahLst/>
            <a:cxnLst/>
            <a:rect l="l" t="t" r="r" b="b"/>
            <a:pathLst>
              <a:path w="11392535" h="621029">
                <a:moveTo>
                  <a:pt x="0" y="620648"/>
                </a:moveTo>
                <a:lnTo>
                  <a:pt x="11392408" y="620648"/>
                </a:lnTo>
                <a:lnTo>
                  <a:pt x="11392408" y="0"/>
                </a:lnTo>
                <a:lnTo>
                  <a:pt x="0" y="0"/>
                </a:lnTo>
                <a:lnTo>
                  <a:pt x="0" y="620648"/>
                </a:lnTo>
                <a:close/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7375" y="2111375"/>
            <a:ext cx="4726305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587375" y="3422015"/>
            <a:ext cx="5850890" cy="835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7375" y="1377950"/>
            <a:ext cx="5314315" cy="9493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1B1B2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381120381_AI_Fitness_Trainer" TargetMode="External"/><Relationship Id="rId2" Type="http://schemas.openxmlformats.org/officeDocument/2006/relationships/hyperlink" Target="https://www.jetir.org/view?paper=JETIR2204658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internationaljournalssrg.org/IJCSE/2025/Volume12-Issue6/IJCSE-V12I6P101.pdf" TargetMode="External"/><Relationship Id="rId5" Type="http://schemas.openxmlformats.org/officeDocument/2006/relationships/hyperlink" Target="https://www.ijraset.com/research-paper/virtual-fitness-trainer-using-ai" TargetMode="External"/><Relationship Id="rId4" Type="http://schemas.openxmlformats.org/officeDocument/2006/relationships/hyperlink" Target="https://ieeexplore.ieee.org/document/9824511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591993" y="1436967"/>
            <a:ext cx="4726305" cy="1586268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lang="en-IN" sz="3600" u="sng" spc="150" dirty="0">
                <a:latin typeface="Bahnschrift" panose="020B0502040204020203" pitchFamily="34" charset="0"/>
              </a:rPr>
              <a:t>FIT VISION</a:t>
            </a:r>
            <a:br>
              <a:rPr lang="en-IN" spc="150" dirty="0"/>
            </a:br>
            <a:r>
              <a:rPr spc="150" dirty="0"/>
              <a:t>AI-</a:t>
            </a:r>
            <a:r>
              <a:rPr spc="190" dirty="0"/>
              <a:t>Based</a:t>
            </a:r>
            <a:r>
              <a:rPr spc="-240" dirty="0"/>
              <a:t> </a:t>
            </a:r>
            <a:r>
              <a:rPr spc="-20" dirty="0"/>
              <a:t>Virtual</a:t>
            </a:r>
            <a:r>
              <a:rPr spc="-225" dirty="0"/>
              <a:t> </a:t>
            </a:r>
            <a:r>
              <a:rPr spc="75" dirty="0"/>
              <a:t>Fitness </a:t>
            </a:r>
            <a:r>
              <a:rPr spc="-10" dirty="0"/>
              <a:t>Trainer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31900"/>
              </a:lnSpc>
              <a:spcBef>
                <a:spcPts val="60"/>
              </a:spcBef>
            </a:pP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Revolutionizing</a:t>
            </a:r>
            <a:r>
              <a:rPr sz="1350" spc="-1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fitness</a:t>
            </a:r>
            <a:r>
              <a:rPr sz="1350" spc="-1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r>
              <a:rPr sz="1350" spc="-1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AI-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powered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 personalized</a:t>
            </a:r>
            <a:r>
              <a:rPr sz="1350" spc="-1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training.</a:t>
            </a:r>
            <a:r>
              <a:rPr sz="1350" spc="-1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Real-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time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feedback,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posture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correction,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tailored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workouts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from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the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comfort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of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your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home.</a:t>
            </a:r>
            <a:endParaRPr sz="13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7375" y="1958975"/>
            <a:ext cx="5442585" cy="5397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50" dirty="0"/>
              <a:t>Addressing</a:t>
            </a:r>
            <a:r>
              <a:rPr spc="-100" dirty="0"/>
              <a:t> </a:t>
            </a:r>
            <a:r>
              <a:rPr dirty="0"/>
              <a:t>the</a:t>
            </a:r>
            <a:r>
              <a:rPr spc="-100" dirty="0"/>
              <a:t> </a:t>
            </a:r>
            <a:r>
              <a:rPr spc="85" dirty="0"/>
              <a:t>Fitness</a:t>
            </a:r>
            <a:r>
              <a:rPr spc="-100" dirty="0"/>
              <a:t> </a:t>
            </a:r>
            <a:r>
              <a:rPr spc="110" dirty="0"/>
              <a:t>Gap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81025" y="2867024"/>
            <a:ext cx="3314700" cy="1581150"/>
            <a:chOff x="581025" y="2867024"/>
            <a:chExt cx="3314700" cy="1581150"/>
          </a:xfrm>
        </p:grpSpPr>
        <p:sp>
          <p:nvSpPr>
            <p:cNvPr id="4" name="object 4"/>
            <p:cNvSpPr/>
            <p:nvPr/>
          </p:nvSpPr>
          <p:spPr>
            <a:xfrm>
              <a:off x="600075" y="2876549"/>
              <a:ext cx="3286125" cy="1562100"/>
            </a:xfrm>
            <a:custGeom>
              <a:avLst/>
              <a:gdLst/>
              <a:ahLst/>
              <a:cxnLst/>
              <a:rect l="l" t="t" r="r" b="b"/>
              <a:pathLst>
                <a:path w="3286125" h="1562100">
                  <a:moveTo>
                    <a:pt x="3238957" y="0"/>
                  </a:moveTo>
                  <a:lnTo>
                    <a:pt x="71194" y="0"/>
                  </a:lnTo>
                  <a:lnTo>
                    <a:pt x="66243" y="431"/>
                  </a:lnTo>
                  <a:lnTo>
                    <a:pt x="29706" y="13665"/>
                  </a:lnTo>
                  <a:lnTo>
                    <a:pt x="3884" y="45199"/>
                  </a:lnTo>
                  <a:lnTo>
                    <a:pt x="0" y="62293"/>
                  </a:lnTo>
                  <a:lnTo>
                    <a:pt x="0" y="1495425"/>
                  </a:lnTo>
                  <a:lnTo>
                    <a:pt x="0" y="1499806"/>
                  </a:lnTo>
                  <a:lnTo>
                    <a:pt x="15622" y="1536103"/>
                  </a:lnTo>
                  <a:lnTo>
                    <a:pt x="51663" y="1558696"/>
                  </a:lnTo>
                  <a:lnTo>
                    <a:pt x="71194" y="1562100"/>
                  </a:lnTo>
                  <a:lnTo>
                    <a:pt x="3238957" y="1562100"/>
                  </a:lnTo>
                  <a:lnTo>
                    <a:pt x="3273679" y="1544967"/>
                  </a:lnTo>
                  <a:lnTo>
                    <a:pt x="3285147" y="1521460"/>
                  </a:lnTo>
                  <a:lnTo>
                    <a:pt x="3285807" y="1518221"/>
                  </a:lnTo>
                  <a:lnTo>
                    <a:pt x="3286125" y="15149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46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0913" y="2867037"/>
              <a:ext cx="3295015" cy="1581150"/>
            </a:xfrm>
            <a:custGeom>
              <a:avLst/>
              <a:gdLst/>
              <a:ahLst/>
              <a:cxnLst/>
              <a:rect l="l" t="t" r="r" b="b"/>
              <a:pathLst>
                <a:path w="3295015" h="15811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92" y="61328"/>
                  </a:lnTo>
                  <a:lnTo>
                    <a:pt x="8826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21142"/>
                  </a:lnTo>
                  <a:lnTo>
                    <a:pt x="3264192" y="1549577"/>
                  </a:lnTo>
                  <a:lnTo>
                    <a:pt x="3263760" y="1550098"/>
                  </a:lnTo>
                  <a:lnTo>
                    <a:pt x="323479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92" y="1519821"/>
                  </a:lnTo>
                  <a:lnTo>
                    <a:pt x="0" y="1515706"/>
                  </a:lnTo>
                  <a:lnTo>
                    <a:pt x="609" y="1519821"/>
                  </a:lnTo>
                  <a:lnTo>
                    <a:pt x="2413" y="1527022"/>
                  </a:lnTo>
                  <a:lnTo>
                    <a:pt x="4851" y="1533817"/>
                  </a:lnTo>
                  <a:lnTo>
                    <a:pt x="4953" y="1534109"/>
                  </a:lnTo>
                  <a:lnTo>
                    <a:pt x="33007" y="1568310"/>
                  </a:lnTo>
                  <a:lnTo>
                    <a:pt x="75349" y="1581150"/>
                  </a:lnTo>
                  <a:lnTo>
                    <a:pt x="3242754" y="1581150"/>
                  </a:lnTo>
                  <a:lnTo>
                    <a:pt x="3250031" y="1579689"/>
                  </a:lnTo>
                  <a:lnTo>
                    <a:pt x="3250222" y="1579689"/>
                  </a:lnTo>
                  <a:lnTo>
                    <a:pt x="3265106" y="1573530"/>
                  </a:lnTo>
                  <a:lnTo>
                    <a:pt x="3271596" y="1569199"/>
                  </a:lnTo>
                  <a:lnTo>
                    <a:pt x="3277222" y="1563573"/>
                  </a:lnTo>
                  <a:lnTo>
                    <a:pt x="3277705" y="1563090"/>
                  </a:lnTo>
                  <a:lnTo>
                    <a:pt x="3282848" y="1557947"/>
                  </a:lnTo>
                  <a:lnTo>
                    <a:pt x="3287179" y="1551457"/>
                  </a:lnTo>
                  <a:lnTo>
                    <a:pt x="3293237" y="1536852"/>
                  </a:lnTo>
                  <a:lnTo>
                    <a:pt x="3294761" y="15293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C7C7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1025" y="2867024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56067" y="0"/>
                  </a:lnTo>
                  <a:lnTo>
                    <a:pt x="52163" y="381"/>
                  </a:lnTo>
                  <a:lnTo>
                    <a:pt x="14789" y="20358"/>
                  </a:lnTo>
                  <a:lnTo>
                    <a:pt x="0" y="56070"/>
                  </a:lnTo>
                  <a:lnTo>
                    <a:pt x="0" y="1521142"/>
                  </a:lnTo>
                  <a:lnTo>
                    <a:pt x="0" y="1525079"/>
                  </a:lnTo>
                  <a:lnTo>
                    <a:pt x="14789" y="1560791"/>
                  </a:lnTo>
                  <a:lnTo>
                    <a:pt x="52163" y="1580769"/>
                  </a:lnTo>
                  <a:lnTo>
                    <a:pt x="56067" y="1581150"/>
                  </a:lnTo>
                  <a:lnTo>
                    <a:pt x="76200" y="1581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35025" y="3040062"/>
            <a:ext cx="2624455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90" dirty="0">
                <a:solidFill>
                  <a:srgbClr val="3C3838"/>
                </a:solidFill>
                <a:latin typeface="Trebuchet MS"/>
                <a:cs typeface="Trebuchet MS"/>
              </a:rPr>
              <a:t>High</a:t>
            </a:r>
            <a:r>
              <a:rPr sz="1650" spc="-7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85" dirty="0" err="1">
                <a:solidFill>
                  <a:srgbClr val="3C3838"/>
                </a:solidFill>
                <a:latin typeface="Trebuchet MS"/>
                <a:cs typeface="Trebuchet MS"/>
              </a:rPr>
              <a:t>Cost</a:t>
            </a:r>
            <a:r>
              <a:rPr sz="1650" spc="455" dirty="0" err="1">
                <a:solidFill>
                  <a:srgbClr val="3C3838"/>
                </a:solidFill>
                <a:latin typeface="Trebuchet MS"/>
                <a:cs typeface="Trebuchet MS"/>
              </a:rPr>
              <a:t>s</a:t>
            </a:r>
            <a:r>
              <a:rPr sz="1650" spc="-10" dirty="0" err="1">
                <a:solidFill>
                  <a:srgbClr val="3C3838"/>
                </a:solidFill>
                <a:latin typeface="Trebuchet MS"/>
                <a:cs typeface="Trebuchet MS"/>
              </a:rPr>
              <a:t>In</a:t>
            </a:r>
            <a:r>
              <a:rPr lang="en-IN" sz="1650" spc="-10" dirty="0">
                <a:solidFill>
                  <a:srgbClr val="3C3838"/>
                </a:solidFill>
                <a:latin typeface="Trebuchet MS"/>
                <a:cs typeface="Trebuchet MS"/>
              </a:rPr>
              <a:t>ac</a:t>
            </a:r>
            <a:r>
              <a:rPr sz="1650" spc="-10" dirty="0" err="1">
                <a:solidFill>
                  <a:srgbClr val="3C3838"/>
                </a:solidFill>
                <a:latin typeface="Trebuchet MS"/>
                <a:cs typeface="Trebuchet MS"/>
              </a:rPr>
              <a:t>cessibility</a:t>
            </a:r>
            <a:endParaRPr sz="1650" dirty="0">
              <a:latin typeface="Trebuchet MS"/>
              <a:cs typeface="Trebuchet MS"/>
            </a:endParaRPr>
          </a:p>
          <a:p>
            <a:pPr marL="12700" marR="29209">
              <a:lnSpc>
                <a:spcPct val="134300"/>
              </a:lnSpc>
              <a:spcBef>
                <a:spcPts val="540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Personal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 trainers</a:t>
            </a:r>
            <a:r>
              <a:rPr sz="1350" spc="-1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gym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memberships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are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often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expensive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out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of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reach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many.</a:t>
            </a:r>
            <a:endParaRPr sz="1350" dirty="0">
              <a:latin typeface="Roboto"/>
              <a:cs typeface="Roboto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048125" y="2867024"/>
            <a:ext cx="3314700" cy="1581150"/>
            <a:chOff x="4048125" y="2867024"/>
            <a:chExt cx="3314700" cy="1581150"/>
          </a:xfrm>
        </p:grpSpPr>
        <p:sp>
          <p:nvSpPr>
            <p:cNvPr id="9" name="object 9"/>
            <p:cNvSpPr/>
            <p:nvPr/>
          </p:nvSpPr>
          <p:spPr>
            <a:xfrm>
              <a:off x="4067175" y="2876549"/>
              <a:ext cx="3286125" cy="1562100"/>
            </a:xfrm>
            <a:custGeom>
              <a:avLst/>
              <a:gdLst/>
              <a:ahLst/>
              <a:cxnLst/>
              <a:rect l="l" t="t" r="r" b="b"/>
              <a:pathLst>
                <a:path w="3286125" h="1562100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495425"/>
                  </a:lnTo>
                  <a:lnTo>
                    <a:pt x="0" y="1499806"/>
                  </a:lnTo>
                  <a:lnTo>
                    <a:pt x="15621" y="1536103"/>
                  </a:lnTo>
                  <a:lnTo>
                    <a:pt x="51663" y="1558696"/>
                  </a:lnTo>
                  <a:lnTo>
                    <a:pt x="71196" y="1562100"/>
                  </a:lnTo>
                  <a:lnTo>
                    <a:pt x="3238957" y="1562100"/>
                  </a:lnTo>
                  <a:lnTo>
                    <a:pt x="3273679" y="1544967"/>
                  </a:lnTo>
                  <a:lnTo>
                    <a:pt x="3285147" y="1521460"/>
                  </a:lnTo>
                  <a:lnTo>
                    <a:pt x="3285807" y="1518221"/>
                  </a:lnTo>
                  <a:lnTo>
                    <a:pt x="3286125" y="15149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46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68013" y="2867037"/>
              <a:ext cx="3295015" cy="1581150"/>
            </a:xfrm>
            <a:custGeom>
              <a:avLst/>
              <a:gdLst/>
              <a:ahLst/>
              <a:cxnLst/>
              <a:rect l="l" t="t" r="r" b="b"/>
              <a:pathLst>
                <a:path w="3295015" h="15811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21142"/>
                  </a:lnTo>
                  <a:lnTo>
                    <a:pt x="3264192" y="1549577"/>
                  </a:lnTo>
                  <a:lnTo>
                    <a:pt x="3263760" y="1550098"/>
                  </a:lnTo>
                  <a:lnTo>
                    <a:pt x="323479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79" y="1519821"/>
                  </a:lnTo>
                  <a:lnTo>
                    <a:pt x="0" y="1515719"/>
                  </a:lnTo>
                  <a:lnTo>
                    <a:pt x="609" y="1519821"/>
                  </a:lnTo>
                  <a:lnTo>
                    <a:pt x="2413" y="1527022"/>
                  </a:lnTo>
                  <a:lnTo>
                    <a:pt x="4851" y="1533817"/>
                  </a:lnTo>
                  <a:lnTo>
                    <a:pt x="4953" y="1534109"/>
                  </a:lnTo>
                  <a:lnTo>
                    <a:pt x="33007" y="1568310"/>
                  </a:lnTo>
                  <a:lnTo>
                    <a:pt x="75349" y="1581150"/>
                  </a:lnTo>
                  <a:lnTo>
                    <a:pt x="3242754" y="1581150"/>
                  </a:lnTo>
                  <a:lnTo>
                    <a:pt x="3250031" y="1579689"/>
                  </a:lnTo>
                  <a:lnTo>
                    <a:pt x="3250222" y="1579689"/>
                  </a:lnTo>
                  <a:lnTo>
                    <a:pt x="3265106" y="1573530"/>
                  </a:lnTo>
                  <a:lnTo>
                    <a:pt x="3271596" y="1569199"/>
                  </a:lnTo>
                  <a:lnTo>
                    <a:pt x="3277222" y="1563573"/>
                  </a:lnTo>
                  <a:lnTo>
                    <a:pt x="3277705" y="1563090"/>
                  </a:lnTo>
                  <a:lnTo>
                    <a:pt x="3282848" y="1557947"/>
                  </a:lnTo>
                  <a:lnTo>
                    <a:pt x="3287179" y="1551457"/>
                  </a:lnTo>
                  <a:lnTo>
                    <a:pt x="3293237" y="1536852"/>
                  </a:lnTo>
                  <a:lnTo>
                    <a:pt x="3294761" y="15293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C7C7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048125" y="2867024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521142"/>
                  </a:lnTo>
                  <a:lnTo>
                    <a:pt x="0" y="1525079"/>
                  </a:lnTo>
                  <a:lnTo>
                    <a:pt x="14782" y="1560791"/>
                  </a:lnTo>
                  <a:lnTo>
                    <a:pt x="52158" y="1580769"/>
                  </a:lnTo>
                  <a:lnTo>
                    <a:pt x="56070" y="1581150"/>
                  </a:lnTo>
                  <a:lnTo>
                    <a:pt x="76200" y="1581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02125" y="3040062"/>
            <a:ext cx="2707005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3C3838"/>
                </a:solidFill>
                <a:latin typeface="Trebuchet MS"/>
                <a:cs typeface="Trebuchet MS"/>
              </a:rPr>
              <a:t>Injury</a:t>
            </a:r>
            <a:r>
              <a:rPr sz="1650" spc="-11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55" dirty="0">
                <a:solidFill>
                  <a:srgbClr val="3C3838"/>
                </a:solidFill>
                <a:latin typeface="Trebuchet MS"/>
                <a:cs typeface="Trebuchet MS"/>
              </a:rPr>
              <a:t>Risk</a:t>
            </a:r>
            <a:r>
              <a:rPr sz="1650" spc="-65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lang="en-IN" sz="1650" spc="-180" dirty="0">
                <a:solidFill>
                  <a:srgbClr val="3C3838"/>
                </a:solidFill>
                <a:latin typeface="Trebuchet MS"/>
                <a:cs typeface="Trebuchet MS"/>
              </a:rPr>
              <a:t>a</a:t>
            </a:r>
            <a:r>
              <a:rPr sz="1650" spc="-180" dirty="0">
                <a:solidFill>
                  <a:srgbClr val="3C3838"/>
                </a:solidFill>
                <a:latin typeface="Trebuchet MS"/>
                <a:cs typeface="Trebuchet MS"/>
              </a:rPr>
              <a:t>t</a:t>
            </a:r>
            <a:r>
              <a:rPr sz="1650" spc="-65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110" dirty="0">
                <a:solidFill>
                  <a:srgbClr val="3C3838"/>
                </a:solidFill>
                <a:latin typeface="Trebuchet MS"/>
                <a:cs typeface="Trebuchet MS"/>
              </a:rPr>
              <a:t>Home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Lack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of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guidance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leads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to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improper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form,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increasing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the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risk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of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injury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during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home</a:t>
            </a:r>
            <a:r>
              <a:rPr sz="1350" spc="-5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workouts.</a:t>
            </a:r>
            <a:endParaRPr sz="1350" dirty="0">
              <a:latin typeface="Roboto"/>
              <a:cs typeface="Roboto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515225" y="2867024"/>
            <a:ext cx="3314700" cy="1581150"/>
            <a:chOff x="7515225" y="2867024"/>
            <a:chExt cx="3314700" cy="1581150"/>
          </a:xfrm>
        </p:grpSpPr>
        <p:sp>
          <p:nvSpPr>
            <p:cNvPr id="14" name="object 14"/>
            <p:cNvSpPr/>
            <p:nvPr/>
          </p:nvSpPr>
          <p:spPr>
            <a:xfrm>
              <a:off x="7534275" y="2876549"/>
              <a:ext cx="3286125" cy="1562100"/>
            </a:xfrm>
            <a:custGeom>
              <a:avLst/>
              <a:gdLst/>
              <a:ahLst/>
              <a:cxnLst/>
              <a:rect l="l" t="t" r="r" b="b"/>
              <a:pathLst>
                <a:path w="3286125" h="1562100">
                  <a:moveTo>
                    <a:pt x="3238957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495425"/>
                  </a:lnTo>
                  <a:lnTo>
                    <a:pt x="0" y="1499806"/>
                  </a:lnTo>
                  <a:lnTo>
                    <a:pt x="15621" y="1536103"/>
                  </a:lnTo>
                  <a:lnTo>
                    <a:pt x="51663" y="1558696"/>
                  </a:lnTo>
                  <a:lnTo>
                    <a:pt x="71196" y="1562100"/>
                  </a:lnTo>
                  <a:lnTo>
                    <a:pt x="3238957" y="1562100"/>
                  </a:lnTo>
                  <a:lnTo>
                    <a:pt x="3273679" y="1544967"/>
                  </a:lnTo>
                  <a:lnTo>
                    <a:pt x="3285147" y="1521460"/>
                  </a:lnTo>
                  <a:lnTo>
                    <a:pt x="3285807" y="1518221"/>
                  </a:lnTo>
                  <a:lnTo>
                    <a:pt x="3286125" y="1514932"/>
                  </a:lnTo>
                  <a:lnTo>
                    <a:pt x="3286125" y="47167"/>
                  </a:lnTo>
                  <a:lnTo>
                    <a:pt x="3268992" y="12446"/>
                  </a:lnTo>
                  <a:lnTo>
                    <a:pt x="3242246" y="317"/>
                  </a:lnTo>
                  <a:lnTo>
                    <a:pt x="3238957" y="0"/>
                  </a:lnTo>
                  <a:close/>
                </a:path>
              </a:pathLst>
            </a:custGeom>
            <a:solidFill>
              <a:srgbClr val="FFFFFF">
                <a:alpha val="9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535113" y="2867037"/>
              <a:ext cx="3295015" cy="1581150"/>
            </a:xfrm>
            <a:custGeom>
              <a:avLst/>
              <a:gdLst/>
              <a:ahLst/>
              <a:cxnLst/>
              <a:rect l="l" t="t" r="r" b="b"/>
              <a:pathLst>
                <a:path w="3295015" h="1581150">
                  <a:moveTo>
                    <a:pt x="3294761" y="51828"/>
                  </a:moveTo>
                  <a:lnTo>
                    <a:pt x="3293275" y="44399"/>
                  </a:lnTo>
                  <a:lnTo>
                    <a:pt x="3287179" y="29692"/>
                  </a:lnTo>
                  <a:lnTo>
                    <a:pt x="3282848" y="23202"/>
                  </a:lnTo>
                  <a:lnTo>
                    <a:pt x="3277692" y="18059"/>
                  </a:lnTo>
                  <a:lnTo>
                    <a:pt x="3277451" y="17805"/>
                  </a:lnTo>
                  <a:lnTo>
                    <a:pt x="3277235" y="17576"/>
                  </a:lnTo>
                  <a:lnTo>
                    <a:pt x="3271596" y="11950"/>
                  </a:lnTo>
                  <a:lnTo>
                    <a:pt x="3265106" y="7607"/>
                  </a:lnTo>
                  <a:lnTo>
                    <a:pt x="3250527" y="1562"/>
                  </a:lnTo>
                  <a:lnTo>
                    <a:pt x="3250654" y="1562"/>
                  </a:lnTo>
                  <a:lnTo>
                    <a:pt x="3242754" y="0"/>
                  </a:lnTo>
                  <a:lnTo>
                    <a:pt x="75349" y="0"/>
                  </a:lnTo>
                  <a:lnTo>
                    <a:pt x="67843" y="355"/>
                  </a:lnTo>
                  <a:lnTo>
                    <a:pt x="59651" y="1562"/>
                  </a:lnTo>
                  <a:lnTo>
                    <a:pt x="59994" y="1562"/>
                  </a:lnTo>
                  <a:lnTo>
                    <a:pt x="53263" y="3251"/>
                  </a:lnTo>
                  <a:lnTo>
                    <a:pt x="16421" y="27876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5349" y="19050"/>
                  </a:lnTo>
                  <a:lnTo>
                    <a:pt x="3234791" y="19050"/>
                  </a:lnTo>
                  <a:lnTo>
                    <a:pt x="3264001" y="31356"/>
                  </a:lnTo>
                  <a:lnTo>
                    <a:pt x="3269005" y="37350"/>
                  </a:lnTo>
                  <a:lnTo>
                    <a:pt x="3272790" y="44399"/>
                  </a:lnTo>
                  <a:lnTo>
                    <a:pt x="3274999" y="51828"/>
                  </a:lnTo>
                  <a:lnTo>
                    <a:pt x="3275749" y="60007"/>
                  </a:lnTo>
                  <a:lnTo>
                    <a:pt x="3275749" y="1521142"/>
                  </a:lnTo>
                  <a:lnTo>
                    <a:pt x="3264192" y="1549577"/>
                  </a:lnTo>
                  <a:lnTo>
                    <a:pt x="3263760" y="1550098"/>
                  </a:lnTo>
                  <a:lnTo>
                    <a:pt x="3234791" y="1562100"/>
                  </a:lnTo>
                  <a:lnTo>
                    <a:pt x="75349" y="1562100"/>
                  </a:lnTo>
                  <a:lnTo>
                    <a:pt x="33007" y="1552473"/>
                  </a:lnTo>
                  <a:lnTo>
                    <a:pt x="1079" y="1519821"/>
                  </a:lnTo>
                  <a:lnTo>
                    <a:pt x="0" y="1515719"/>
                  </a:lnTo>
                  <a:lnTo>
                    <a:pt x="609" y="1519821"/>
                  </a:lnTo>
                  <a:lnTo>
                    <a:pt x="2413" y="1527022"/>
                  </a:lnTo>
                  <a:lnTo>
                    <a:pt x="4851" y="1533817"/>
                  </a:lnTo>
                  <a:lnTo>
                    <a:pt x="4953" y="1534109"/>
                  </a:lnTo>
                  <a:lnTo>
                    <a:pt x="33007" y="1568310"/>
                  </a:lnTo>
                  <a:lnTo>
                    <a:pt x="75349" y="1581150"/>
                  </a:lnTo>
                  <a:lnTo>
                    <a:pt x="3242754" y="1581150"/>
                  </a:lnTo>
                  <a:lnTo>
                    <a:pt x="3250031" y="1579689"/>
                  </a:lnTo>
                  <a:lnTo>
                    <a:pt x="3250222" y="1579689"/>
                  </a:lnTo>
                  <a:lnTo>
                    <a:pt x="3265106" y="1573530"/>
                  </a:lnTo>
                  <a:lnTo>
                    <a:pt x="3271596" y="1569199"/>
                  </a:lnTo>
                  <a:lnTo>
                    <a:pt x="3277222" y="1563573"/>
                  </a:lnTo>
                  <a:lnTo>
                    <a:pt x="3277705" y="1563090"/>
                  </a:lnTo>
                  <a:lnTo>
                    <a:pt x="3282848" y="1557947"/>
                  </a:lnTo>
                  <a:lnTo>
                    <a:pt x="3287179" y="1551457"/>
                  </a:lnTo>
                  <a:lnTo>
                    <a:pt x="3293237" y="1536852"/>
                  </a:lnTo>
                  <a:lnTo>
                    <a:pt x="3294761" y="1529308"/>
                  </a:lnTo>
                  <a:lnTo>
                    <a:pt x="3294761" y="51828"/>
                  </a:lnTo>
                  <a:close/>
                </a:path>
              </a:pathLst>
            </a:custGeom>
            <a:solidFill>
              <a:srgbClr val="C7C7D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515225" y="2867024"/>
              <a:ext cx="76200" cy="1581150"/>
            </a:xfrm>
            <a:custGeom>
              <a:avLst/>
              <a:gdLst/>
              <a:ahLst/>
              <a:cxnLst/>
              <a:rect l="l" t="t" r="r" b="b"/>
              <a:pathLst>
                <a:path w="76200" h="1581150">
                  <a:moveTo>
                    <a:pt x="76200" y="0"/>
                  </a:moveTo>
                  <a:lnTo>
                    <a:pt x="56070" y="0"/>
                  </a:lnTo>
                  <a:lnTo>
                    <a:pt x="52158" y="381"/>
                  </a:lnTo>
                  <a:lnTo>
                    <a:pt x="14782" y="20358"/>
                  </a:lnTo>
                  <a:lnTo>
                    <a:pt x="0" y="56070"/>
                  </a:lnTo>
                  <a:lnTo>
                    <a:pt x="0" y="1521142"/>
                  </a:lnTo>
                  <a:lnTo>
                    <a:pt x="0" y="1525079"/>
                  </a:lnTo>
                  <a:lnTo>
                    <a:pt x="14782" y="1560791"/>
                  </a:lnTo>
                  <a:lnTo>
                    <a:pt x="52158" y="1580769"/>
                  </a:lnTo>
                  <a:lnTo>
                    <a:pt x="56070" y="1581150"/>
                  </a:lnTo>
                  <a:lnTo>
                    <a:pt x="76200" y="158115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1B1B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769225" y="3040062"/>
            <a:ext cx="2407920" cy="1179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175" dirty="0">
                <a:solidFill>
                  <a:srgbClr val="3C3838"/>
                </a:solidFill>
                <a:latin typeface="Trebuchet MS"/>
                <a:cs typeface="Trebuchet MS"/>
              </a:rPr>
              <a:t>No</a:t>
            </a:r>
            <a:r>
              <a:rPr sz="1650" spc="15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-30" dirty="0">
                <a:solidFill>
                  <a:srgbClr val="3C3838"/>
                </a:solidFill>
                <a:latin typeface="Trebuchet MS"/>
                <a:cs typeface="Trebuchet MS"/>
              </a:rPr>
              <a:t>Re</a:t>
            </a:r>
            <a:r>
              <a:rPr lang="en-IN" sz="1650" spc="-30" dirty="0">
                <a:solidFill>
                  <a:srgbClr val="3C3838"/>
                </a:solidFill>
                <a:latin typeface="Trebuchet MS"/>
                <a:cs typeface="Trebuchet MS"/>
              </a:rPr>
              <a:t>a</a:t>
            </a:r>
            <a:r>
              <a:rPr sz="1650" spc="-30" dirty="0">
                <a:solidFill>
                  <a:srgbClr val="3C3838"/>
                </a:solidFill>
                <a:latin typeface="Trebuchet MS"/>
                <a:cs typeface="Trebuchet MS"/>
              </a:rPr>
              <a:t>l-</a:t>
            </a:r>
            <a:r>
              <a:rPr sz="1650" dirty="0">
                <a:solidFill>
                  <a:srgbClr val="3C3838"/>
                </a:solidFill>
                <a:latin typeface="Trebuchet MS"/>
                <a:cs typeface="Trebuchet MS"/>
              </a:rPr>
              <a:t>time</a:t>
            </a:r>
            <a:r>
              <a:rPr sz="1650" spc="2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-10" dirty="0" err="1">
                <a:solidFill>
                  <a:srgbClr val="3C3838"/>
                </a:solidFill>
                <a:latin typeface="Trebuchet MS"/>
                <a:cs typeface="Trebuchet MS"/>
              </a:rPr>
              <a:t>Feedb</a:t>
            </a:r>
            <a:r>
              <a:rPr lang="en-IN" sz="1650" spc="-10" dirty="0">
                <a:solidFill>
                  <a:srgbClr val="3C3838"/>
                </a:solidFill>
                <a:latin typeface="Trebuchet MS"/>
                <a:cs typeface="Trebuchet MS"/>
              </a:rPr>
              <a:t>a</a:t>
            </a:r>
            <a:r>
              <a:rPr sz="1650" spc="-10" dirty="0">
                <a:solidFill>
                  <a:srgbClr val="3C3838"/>
                </a:solidFill>
                <a:latin typeface="Trebuchet MS"/>
                <a:cs typeface="Trebuchet MS"/>
              </a:rPr>
              <a:t>ck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Current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home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solutions</a:t>
            </a:r>
            <a:r>
              <a:rPr sz="1350" spc="-1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lack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immediate,</a:t>
            </a:r>
            <a:r>
              <a:rPr sz="1350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corrective</a:t>
            </a:r>
            <a:r>
              <a:rPr sz="1350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guidance essential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effective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training.</a:t>
            </a:r>
            <a:endParaRPr sz="1350" dirty="0">
              <a:latin typeface="Roboto"/>
              <a:cs typeface="Roboto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3146" y="5806058"/>
            <a:ext cx="11396980" cy="633095"/>
            <a:chOff x="33146" y="5806058"/>
            <a:chExt cx="11396980" cy="633095"/>
          </a:xfrm>
        </p:grpSpPr>
        <p:pic>
          <p:nvPicPr>
            <p:cNvPr id="19" name="object 19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9496" y="5812408"/>
              <a:ext cx="11384280" cy="620395"/>
            </a:xfrm>
            <a:custGeom>
              <a:avLst/>
              <a:gdLst/>
              <a:ahLst/>
              <a:cxnLst/>
              <a:rect l="l" t="t" r="r" b="b"/>
              <a:pathLst>
                <a:path w="11384280" h="620395">
                  <a:moveTo>
                    <a:pt x="11384153" y="0"/>
                  </a:moveTo>
                  <a:lnTo>
                    <a:pt x="0" y="0"/>
                  </a:lnTo>
                  <a:lnTo>
                    <a:pt x="0" y="620128"/>
                  </a:lnTo>
                  <a:lnTo>
                    <a:pt x="11384153" y="620128"/>
                  </a:lnTo>
                  <a:lnTo>
                    <a:pt x="1138415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9496" y="5812408"/>
              <a:ext cx="11384280" cy="620395"/>
            </a:xfrm>
            <a:custGeom>
              <a:avLst/>
              <a:gdLst/>
              <a:ahLst/>
              <a:cxnLst/>
              <a:rect l="l" t="t" r="r" b="b"/>
              <a:pathLst>
                <a:path w="11384280" h="620395">
                  <a:moveTo>
                    <a:pt x="0" y="620128"/>
                  </a:moveTo>
                  <a:lnTo>
                    <a:pt x="11384153" y="620128"/>
                  </a:lnTo>
                  <a:lnTo>
                    <a:pt x="11384153" y="0"/>
                  </a:lnTo>
                  <a:lnTo>
                    <a:pt x="0" y="0"/>
                  </a:lnTo>
                  <a:lnTo>
                    <a:pt x="0" y="6201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54" y="253"/>
            <a:ext cx="11421745" cy="6438900"/>
            <a:chOff x="8254" y="253"/>
            <a:chExt cx="11421745" cy="64389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253"/>
              <a:ext cx="4286250" cy="6438645"/>
            </a:xfrm>
            <a:prstGeom prst="rect">
              <a:avLst/>
            </a:prstGeom>
          </p:spPr>
        </p:pic>
        <p:pic>
          <p:nvPicPr>
            <p:cNvPr id="4" name="object 4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4604" y="5817870"/>
              <a:ext cx="11409045" cy="614680"/>
            </a:xfrm>
            <a:custGeom>
              <a:avLst/>
              <a:gdLst/>
              <a:ahLst/>
              <a:cxnLst/>
              <a:rect l="l" t="t" r="r" b="b"/>
              <a:pathLst>
                <a:path w="11409045" h="614679">
                  <a:moveTo>
                    <a:pt x="11409045" y="0"/>
                  </a:moveTo>
                  <a:lnTo>
                    <a:pt x="0" y="0"/>
                  </a:lnTo>
                  <a:lnTo>
                    <a:pt x="0" y="614667"/>
                  </a:lnTo>
                  <a:lnTo>
                    <a:pt x="11409045" y="614667"/>
                  </a:lnTo>
                  <a:lnTo>
                    <a:pt x="114090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604" y="5817870"/>
              <a:ext cx="11409045" cy="614680"/>
            </a:xfrm>
            <a:custGeom>
              <a:avLst/>
              <a:gdLst/>
              <a:ahLst/>
              <a:cxnLst/>
              <a:rect l="l" t="t" r="r" b="b"/>
              <a:pathLst>
                <a:path w="11409045" h="614679">
                  <a:moveTo>
                    <a:pt x="0" y="614667"/>
                  </a:moveTo>
                  <a:lnTo>
                    <a:pt x="11409045" y="614667"/>
                  </a:lnTo>
                  <a:lnTo>
                    <a:pt x="11409045" y="0"/>
                  </a:lnTo>
                  <a:lnTo>
                    <a:pt x="0" y="0"/>
                  </a:lnTo>
                  <a:lnTo>
                    <a:pt x="0" y="614667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65" dirty="0"/>
              <a:t>System</a:t>
            </a:r>
            <a:r>
              <a:rPr spc="-114" dirty="0"/>
              <a:t> </a:t>
            </a:r>
            <a:r>
              <a:rPr spc="150" dirty="0"/>
              <a:t>Under</a:t>
            </a:r>
            <a:r>
              <a:rPr spc="-195" dirty="0"/>
              <a:t> </a:t>
            </a:r>
            <a:r>
              <a:rPr dirty="0"/>
              <a:t>the</a:t>
            </a:r>
            <a:r>
              <a:rPr spc="-110" dirty="0"/>
              <a:t> </a:t>
            </a:r>
            <a:r>
              <a:rPr spc="190" dirty="0"/>
              <a:t>Hood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87375" y="2363787"/>
            <a:ext cx="2421890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85" dirty="0">
                <a:solidFill>
                  <a:srgbClr val="1B1B26"/>
                </a:solidFill>
                <a:latin typeface="Trebuchet MS"/>
                <a:cs typeface="Trebuchet MS"/>
              </a:rPr>
              <a:t>User</a:t>
            </a:r>
            <a:r>
              <a:rPr sz="1650" spc="-110" dirty="0">
                <a:solidFill>
                  <a:srgbClr val="1B1B26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1B1B26"/>
                </a:solidFill>
                <a:latin typeface="Trebuchet MS"/>
                <a:cs typeface="Trebuchet MS"/>
              </a:rPr>
              <a:t>Input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Webcam/camera captures</a:t>
            </a:r>
            <a:r>
              <a:rPr sz="1350" spc="-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user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movements.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77805" y="2363787"/>
            <a:ext cx="2625725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55" dirty="0">
                <a:solidFill>
                  <a:srgbClr val="1B1B26"/>
                </a:solidFill>
                <a:latin typeface="Trebuchet MS"/>
                <a:cs typeface="Trebuchet MS"/>
              </a:rPr>
              <a:t>AI</a:t>
            </a:r>
            <a:r>
              <a:rPr sz="1650" spc="-75" dirty="0">
                <a:solidFill>
                  <a:srgbClr val="1B1B26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1B1B26"/>
                </a:solidFill>
                <a:latin typeface="Trebuchet MS"/>
                <a:cs typeface="Trebuchet MS"/>
              </a:rPr>
              <a:t>L</a:t>
            </a:r>
            <a:r>
              <a:rPr lang="en-IN" sz="1650" spc="-10" dirty="0">
                <a:solidFill>
                  <a:srgbClr val="1B1B26"/>
                </a:solidFill>
                <a:latin typeface="Trebuchet MS"/>
                <a:cs typeface="Trebuchet MS"/>
              </a:rPr>
              <a:t>a</a:t>
            </a:r>
            <a:r>
              <a:rPr sz="1650" spc="-10" dirty="0" err="1">
                <a:solidFill>
                  <a:srgbClr val="1B1B26"/>
                </a:solidFill>
                <a:latin typeface="Trebuchet MS"/>
                <a:cs typeface="Trebuchet MS"/>
              </a:rPr>
              <a:t>yer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Pose</a:t>
            </a:r>
            <a:r>
              <a:rPr sz="1350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detection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using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MediaPipe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50" dirty="0">
                <a:solidFill>
                  <a:srgbClr val="3C3838"/>
                </a:solidFill>
                <a:latin typeface="Roboto"/>
                <a:cs typeface="Roboto"/>
              </a:rPr>
              <a:t>&amp;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OpenCV.</a:t>
            </a:r>
            <a:endParaRPr sz="1350" dirty="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375" y="3868737"/>
            <a:ext cx="2574290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0" dirty="0">
                <a:solidFill>
                  <a:srgbClr val="1B1B26"/>
                </a:solidFill>
                <a:latin typeface="Trebuchet MS"/>
                <a:cs typeface="Trebuchet MS"/>
              </a:rPr>
              <a:t>Processing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Real-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time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analysis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CNN models.</a:t>
            </a:r>
            <a:endParaRPr sz="1350" dirty="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77805" y="3868737"/>
            <a:ext cx="1957705" cy="96964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10" dirty="0">
                <a:solidFill>
                  <a:srgbClr val="1B1B26"/>
                </a:solidFill>
                <a:latin typeface="Trebuchet MS"/>
                <a:cs typeface="Trebuchet MS"/>
              </a:rPr>
              <a:t>Output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106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Instant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feedback,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posture correction,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rep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counting.</a:t>
            </a:r>
            <a:endParaRPr sz="1350">
              <a:latin typeface="Roboto"/>
              <a:cs typeface="Roboto"/>
            </a:endParaRPr>
          </a:p>
        </p:txBody>
      </p:sp>
      <p:pic>
        <p:nvPicPr>
          <p:cNvPr id="12" name="Content Placeholder 5">
            <a:extLst>
              <a:ext uri="{FF2B5EF4-FFF2-40B4-BE49-F238E27FC236}">
                <a16:creationId xmlns:a16="http://schemas.microsoft.com/office/drawing/2014/main" id="{D8EC295B-1812-0F52-FD40-4332E1414A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39" r="11886"/>
          <a:stretch>
            <a:fillRect/>
          </a:stretch>
        </p:blipFill>
        <p:spPr>
          <a:xfrm>
            <a:off x="7172071" y="6352"/>
            <a:ext cx="4162678" cy="5832344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C5A1B-33D2-92DF-14D6-8D9BE4E1B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087" y="708978"/>
            <a:ext cx="9013825" cy="515526"/>
          </a:xfrm>
        </p:spPr>
        <p:txBody>
          <a:bodyPr/>
          <a:lstStyle/>
          <a:p>
            <a:pPr algn="ctr"/>
            <a:r>
              <a:rPr lang="en-IN" dirty="0" err="1"/>
              <a:t>Mediapipe</a:t>
            </a:r>
            <a:r>
              <a:rPr lang="en-IN" dirty="0"/>
              <a:t> </a:t>
            </a:r>
            <a:r>
              <a:rPr lang="en-IN" dirty="0" err="1"/>
              <a:t>Blazepose’s</a:t>
            </a:r>
            <a:r>
              <a:rPr lang="en-IN" dirty="0"/>
              <a:t> 33 landmarks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7FEEE-2D85-EB68-60D3-69E5997C9333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B458AD5-6959-B746-BC43-07D4A2BCC9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702704"/>
            <a:ext cx="6553200" cy="3813270"/>
          </a:xfrm>
        </p:spPr>
      </p:pic>
    </p:spTree>
    <p:extLst>
      <p:ext uri="{BB962C8B-B14F-4D97-AF65-F5344CB8AC3E}">
        <p14:creationId xmlns:p14="http://schemas.microsoft.com/office/powerpoint/2010/main" val="3623169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8266B-9FD0-04A1-BC4F-A062A4E76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53042" y="560889"/>
            <a:ext cx="5314315" cy="515526"/>
          </a:xfrm>
        </p:spPr>
        <p:txBody>
          <a:bodyPr/>
          <a:lstStyle/>
          <a:p>
            <a:pPr algn="ctr"/>
            <a:r>
              <a:rPr lang="en-IN" dirty="0"/>
              <a:t>OUTPUT: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EC3A028-89EF-6B57-4A0D-BCA8DDC3D6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91" t="14479" r="5455"/>
          <a:stretch>
            <a:fillRect/>
          </a:stretch>
        </p:blipFill>
        <p:spPr>
          <a:xfrm>
            <a:off x="1828799" y="1312226"/>
            <a:ext cx="7162800" cy="459422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4C1E3F-8420-D4F3-ACB9-F3A53EF1A5D9}"/>
              </a:ext>
            </a:extLst>
          </p:cNvPr>
          <p:cNvSpPr>
            <a:spLocks noGrp="1"/>
          </p:cNvSpPr>
          <p:nvPr>
            <p:ph sz="half" idx="3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0988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7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00" dirty="0"/>
              <a:t>Powering</a:t>
            </a:r>
            <a:r>
              <a:rPr spc="-100" dirty="0"/>
              <a:t> </a:t>
            </a:r>
            <a:r>
              <a:rPr dirty="0"/>
              <a:t>the</a:t>
            </a:r>
            <a:r>
              <a:rPr spc="-95" dirty="0"/>
              <a:t> </a:t>
            </a:r>
            <a:r>
              <a:rPr spc="-10" dirty="0"/>
              <a:t>Platform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2647949"/>
            <a:ext cx="10229850" cy="2019300"/>
            <a:chOff x="600075" y="2647949"/>
            <a:chExt cx="10229850" cy="2019300"/>
          </a:xfrm>
        </p:grpSpPr>
        <p:sp>
          <p:nvSpPr>
            <p:cNvPr id="4" name="object 4"/>
            <p:cNvSpPr/>
            <p:nvPr/>
          </p:nvSpPr>
          <p:spPr>
            <a:xfrm>
              <a:off x="604837" y="2652712"/>
              <a:ext cx="10220325" cy="2009775"/>
            </a:xfrm>
            <a:custGeom>
              <a:avLst/>
              <a:gdLst/>
              <a:ahLst/>
              <a:cxnLst/>
              <a:rect l="l" t="t" r="r" b="b"/>
              <a:pathLst>
                <a:path w="10220325" h="2009775">
                  <a:moveTo>
                    <a:pt x="0" y="195453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10165080" y="0"/>
                  </a:lnTo>
                  <a:lnTo>
                    <a:pt x="10168712" y="0"/>
                  </a:lnTo>
                  <a:lnTo>
                    <a:pt x="10172293" y="355"/>
                  </a:lnTo>
                  <a:lnTo>
                    <a:pt x="10175849" y="1066"/>
                  </a:lnTo>
                  <a:lnTo>
                    <a:pt x="10179418" y="1765"/>
                  </a:lnTo>
                  <a:lnTo>
                    <a:pt x="10182872" y="2819"/>
                  </a:lnTo>
                  <a:lnTo>
                    <a:pt x="10186212" y="4203"/>
                  </a:lnTo>
                  <a:lnTo>
                    <a:pt x="10189578" y="5588"/>
                  </a:lnTo>
                  <a:lnTo>
                    <a:pt x="10192753" y="7289"/>
                  </a:lnTo>
                  <a:lnTo>
                    <a:pt x="10195763" y="9309"/>
                  </a:lnTo>
                  <a:lnTo>
                    <a:pt x="10198785" y="11328"/>
                  </a:lnTo>
                  <a:lnTo>
                    <a:pt x="10201579" y="13614"/>
                  </a:lnTo>
                  <a:lnTo>
                    <a:pt x="10204145" y="16179"/>
                  </a:lnTo>
                  <a:lnTo>
                    <a:pt x="10206710" y="18745"/>
                  </a:lnTo>
                  <a:lnTo>
                    <a:pt x="10219258" y="44462"/>
                  </a:lnTo>
                  <a:lnTo>
                    <a:pt x="10219969" y="48018"/>
                  </a:lnTo>
                  <a:lnTo>
                    <a:pt x="10220325" y="51612"/>
                  </a:lnTo>
                  <a:lnTo>
                    <a:pt x="10220325" y="55245"/>
                  </a:lnTo>
                  <a:lnTo>
                    <a:pt x="10220325" y="1954530"/>
                  </a:lnTo>
                  <a:lnTo>
                    <a:pt x="10220325" y="1958162"/>
                  </a:lnTo>
                  <a:lnTo>
                    <a:pt x="10219969" y="1961743"/>
                  </a:lnTo>
                  <a:lnTo>
                    <a:pt x="10219258" y="1965312"/>
                  </a:lnTo>
                  <a:lnTo>
                    <a:pt x="10218559" y="1968868"/>
                  </a:lnTo>
                  <a:lnTo>
                    <a:pt x="10204145" y="1993595"/>
                  </a:lnTo>
                  <a:lnTo>
                    <a:pt x="10201579" y="1996160"/>
                  </a:lnTo>
                  <a:lnTo>
                    <a:pt x="10175849" y="2008708"/>
                  </a:lnTo>
                  <a:lnTo>
                    <a:pt x="10172293" y="2009419"/>
                  </a:lnTo>
                  <a:lnTo>
                    <a:pt x="10168712" y="2009775"/>
                  </a:lnTo>
                  <a:lnTo>
                    <a:pt x="10165080" y="2009775"/>
                  </a:lnTo>
                  <a:lnTo>
                    <a:pt x="55245" y="2009775"/>
                  </a:lnTo>
                  <a:lnTo>
                    <a:pt x="51619" y="2009775"/>
                  </a:lnTo>
                  <a:lnTo>
                    <a:pt x="48026" y="2009419"/>
                  </a:lnTo>
                  <a:lnTo>
                    <a:pt x="44465" y="2008708"/>
                  </a:lnTo>
                  <a:lnTo>
                    <a:pt x="40907" y="2008009"/>
                  </a:lnTo>
                  <a:lnTo>
                    <a:pt x="9311" y="1985213"/>
                  </a:lnTo>
                  <a:lnTo>
                    <a:pt x="7292" y="1982203"/>
                  </a:lnTo>
                  <a:lnTo>
                    <a:pt x="5590" y="1979028"/>
                  </a:lnTo>
                  <a:lnTo>
                    <a:pt x="4207" y="1975675"/>
                  </a:lnTo>
                  <a:lnTo>
                    <a:pt x="2818" y="1972322"/>
                  </a:lnTo>
                  <a:lnTo>
                    <a:pt x="1771" y="1968868"/>
                  </a:lnTo>
                  <a:lnTo>
                    <a:pt x="1061" y="1965312"/>
                  </a:lnTo>
                  <a:lnTo>
                    <a:pt x="351" y="1961743"/>
                  </a:lnTo>
                  <a:lnTo>
                    <a:pt x="0" y="1958162"/>
                  </a:lnTo>
                  <a:lnTo>
                    <a:pt x="0" y="195453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9587" y="2657474"/>
              <a:ext cx="10211435" cy="1505585"/>
            </a:xfrm>
            <a:custGeom>
              <a:avLst/>
              <a:gdLst/>
              <a:ahLst/>
              <a:cxnLst/>
              <a:rect l="l" t="t" r="r" b="b"/>
              <a:pathLst>
                <a:path w="10211435" h="1505585">
                  <a:moveTo>
                    <a:pt x="3057525" y="1000137"/>
                  </a:moveTo>
                  <a:lnTo>
                    <a:pt x="0" y="1000137"/>
                  </a:lnTo>
                  <a:lnTo>
                    <a:pt x="0" y="1504962"/>
                  </a:lnTo>
                  <a:lnTo>
                    <a:pt x="3057525" y="1504962"/>
                  </a:lnTo>
                  <a:lnTo>
                    <a:pt x="3057525" y="1000137"/>
                  </a:lnTo>
                  <a:close/>
                </a:path>
                <a:path w="10211435" h="1505585">
                  <a:moveTo>
                    <a:pt x="3057525" y="12"/>
                  </a:moveTo>
                  <a:lnTo>
                    <a:pt x="0" y="12"/>
                  </a:lnTo>
                  <a:lnTo>
                    <a:pt x="0" y="504837"/>
                  </a:lnTo>
                  <a:lnTo>
                    <a:pt x="3057525" y="504837"/>
                  </a:lnTo>
                  <a:lnTo>
                    <a:pt x="3057525" y="12"/>
                  </a:lnTo>
                  <a:close/>
                </a:path>
                <a:path w="10211435" h="1505585">
                  <a:moveTo>
                    <a:pt x="10210813" y="1000137"/>
                  </a:moveTo>
                  <a:lnTo>
                    <a:pt x="3067062" y="1000137"/>
                  </a:lnTo>
                  <a:lnTo>
                    <a:pt x="3067062" y="1504950"/>
                  </a:lnTo>
                  <a:lnTo>
                    <a:pt x="10210813" y="1504950"/>
                  </a:lnTo>
                  <a:lnTo>
                    <a:pt x="10210813" y="1000137"/>
                  </a:lnTo>
                  <a:close/>
                </a:path>
                <a:path w="10211435" h="1505585">
                  <a:moveTo>
                    <a:pt x="10210813" y="0"/>
                  </a:moveTo>
                  <a:lnTo>
                    <a:pt x="3067062" y="0"/>
                  </a:lnTo>
                  <a:lnTo>
                    <a:pt x="3067062" y="504837"/>
                  </a:lnTo>
                  <a:lnTo>
                    <a:pt x="10210813" y="504837"/>
                  </a:lnTo>
                  <a:lnTo>
                    <a:pt x="10210813" y="0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8498" y="2778125"/>
            <a:ext cx="71374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solidFill>
                  <a:srgbClr val="3C3838"/>
                </a:solidFill>
                <a:latin typeface="Roboto"/>
                <a:cs typeface="Roboto"/>
              </a:rPr>
              <a:t>Frontend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36437" y="2778125"/>
            <a:ext cx="1762760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350" dirty="0" err="1">
                <a:solidFill>
                  <a:srgbClr val="3C3838"/>
                </a:solidFill>
                <a:latin typeface="Roboto"/>
                <a:cs typeface="Roboto"/>
              </a:rPr>
              <a:t>Streamlit</a:t>
            </a:r>
            <a:endParaRPr sz="1350" dirty="0">
              <a:latin typeface="Roboto"/>
              <a:cs typeface="Robot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9599" y="3162299"/>
            <a:ext cx="3057525" cy="495300"/>
          </a:xfrm>
          <a:prstGeom prst="rect">
            <a:avLst/>
          </a:prstGeom>
          <a:solidFill>
            <a:srgbClr val="000000">
              <a:alpha val="3919"/>
            </a:srgbClr>
          </a:solidFill>
        </p:spPr>
        <p:txBody>
          <a:bodyPr vert="horz" wrap="square" lIns="0" tIns="133350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1050"/>
              </a:spcBef>
            </a:pPr>
            <a:r>
              <a:rPr sz="1350" b="1" dirty="0">
                <a:solidFill>
                  <a:srgbClr val="3C3838"/>
                </a:solidFill>
                <a:latin typeface="Roboto"/>
                <a:cs typeface="Roboto"/>
              </a:rPr>
              <a:t>Backend</a:t>
            </a:r>
            <a:r>
              <a:rPr sz="1350" b="1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b="1" dirty="0">
                <a:solidFill>
                  <a:srgbClr val="3C3838"/>
                </a:solidFill>
                <a:latin typeface="Roboto"/>
                <a:cs typeface="Roboto"/>
              </a:rPr>
              <a:t>&amp;</a:t>
            </a:r>
            <a:r>
              <a:rPr sz="1350" b="1" spc="-4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b="1" spc="-25" dirty="0">
                <a:solidFill>
                  <a:srgbClr val="3C3838"/>
                </a:solidFill>
                <a:latin typeface="Roboto"/>
                <a:cs typeface="Roboto"/>
              </a:rPr>
              <a:t>AI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76650" y="3162299"/>
            <a:ext cx="7143750" cy="495300"/>
          </a:xfrm>
          <a:prstGeom prst="rect">
            <a:avLst/>
          </a:prstGeom>
          <a:solidFill>
            <a:srgbClr val="000000">
              <a:alpha val="3919"/>
            </a:srgbClr>
          </a:solidFill>
        </p:spPr>
        <p:txBody>
          <a:bodyPr vert="horz" wrap="square" lIns="0" tIns="133350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1050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Python,</a:t>
            </a:r>
            <a:r>
              <a:rPr sz="1350" spc="-5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MediaPipe,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OpenCV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68498" y="3778250"/>
            <a:ext cx="11093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3C3838"/>
                </a:solidFill>
                <a:latin typeface="Roboto"/>
                <a:cs typeface="Roboto"/>
              </a:rPr>
              <a:t>AI/ML</a:t>
            </a:r>
            <a:r>
              <a:rPr sz="1350" b="1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b="1" spc="-10" dirty="0">
                <a:solidFill>
                  <a:srgbClr val="3C3838"/>
                </a:solidFill>
                <a:latin typeface="Roboto"/>
                <a:cs typeface="Roboto"/>
              </a:rPr>
              <a:t>Models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36437" y="3778250"/>
            <a:ext cx="3372485" cy="2205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CNN</a:t>
            </a:r>
            <a:r>
              <a:rPr sz="1350" spc="-1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 posture</a:t>
            </a:r>
            <a:endParaRPr sz="1350" dirty="0">
              <a:latin typeface="Roboto"/>
              <a:cs typeface="Robot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599" y="4162425"/>
            <a:ext cx="3057525" cy="495300"/>
          </a:xfrm>
          <a:prstGeom prst="rect">
            <a:avLst/>
          </a:prstGeom>
          <a:solidFill>
            <a:srgbClr val="000000">
              <a:alpha val="3919"/>
            </a:srgbClr>
          </a:solidFill>
        </p:spPr>
        <p:txBody>
          <a:bodyPr vert="horz" wrap="square" lIns="0" tIns="123825" rIns="0" bIns="0" rtlCol="0">
            <a:spAutoFit/>
          </a:bodyPr>
          <a:lstStyle/>
          <a:p>
            <a:pPr marL="171450">
              <a:lnSpc>
                <a:spcPct val="100000"/>
              </a:lnSpc>
              <a:spcBef>
                <a:spcPts val="975"/>
              </a:spcBef>
            </a:pPr>
            <a:r>
              <a:rPr sz="1350" b="1" spc="-10" dirty="0">
                <a:solidFill>
                  <a:srgbClr val="3C3838"/>
                </a:solidFill>
                <a:latin typeface="Roboto"/>
                <a:cs typeface="Roboto"/>
              </a:rPr>
              <a:t>Visualization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76650" y="4162425"/>
            <a:ext cx="7143750" cy="495300"/>
          </a:xfrm>
          <a:prstGeom prst="rect">
            <a:avLst/>
          </a:prstGeom>
          <a:solidFill>
            <a:srgbClr val="000000">
              <a:alpha val="3919"/>
            </a:srgbClr>
          </a:solidFill>
        </p:spPr>
        <p:txBody>
          <a:bodyPr vert="horz" wrap="square" lIns="0" tIns="123825" rIns="0" bIns="0" rtlCol="0">
            <a:spAutoFit/>
          </a:bodyPr>
          <a:lstStyle/>
          <a:p>
            <a:pPr marL="172085">
              <a:lnSpc>
                <a:spcPct val="100000"/>
              </a:lnSpc>
              <a:spcBef>
                <a:spcPts val="975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BlazePose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framework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9657" y="5729858"/>
            <a:ext cx="11380470" cy="709295"/>
            <a:chOff x="49657" y="5729858"/>
            <a:chExt cx="11380470" cy="709295"/>
          </a:xfrm>
        </p:grpSpPr>
        <p:pic>
          <p:nvPicPr>
            <p:cNvPr id="15" name="object 15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5" y="5926073"/>
              <a:ext cx="1754504" cy="4191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6007" y="5736208"/>
              <a:ext cx="11367770" cy="696595"/>
            </a:xfrm>
            <a:custGeom>
              <a:avLst/>
              <a:gdLst/>
              <a:ahLst/>
              <a:cxnLst/>
              <a:rect l="l" t="t" r="r" b="b"/>
              <a:pathLst>
                <a:path w="11367770" h="696595">
                  <a:moveTo>
                    <a:pt x="11367643" y="0"/>
                  </a:moveTo>
                  <a:lnTo>
                    <a:pt x="0" y="0"/>
                  </a:lnTo>
                  <a:lnTo>
                    <a:pt x="0" y="696328"/>
                  </a:lnTo>
                  <a:lnTo>
                    <a:pt x="11367643" y="696328"/>
                  </a:lnTo>
                  <a:lnTo>
                    <a:pt x="113676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6007" y="5736208"/>
              <a:ext cx="11367770" cy="696595"/>
            </a:xfrm>
            <a:custGeom>
              <a:avLst/>
              <a:gdLst/>
              <a:ahLst/>
              <a:cxnLst/>
              <a:rect l="l" t="t" r="r" b="b"/>
              <a:pathLst>
                <a:path w="11367770" h="696595">
                  <a:moveTo>
                    <a:pt x="0" y="696328"/>
                  </a:moveTo>
                  <a:lnTo>
                    <a:pt x="11367643" y="696328"/>
                  </a:lnTo>
                  <a:lnTo>
                    <a:pt x="11367643" y="0"/>
                  </a:lnTo>
                  <a:lnTo>
                    <a:pt x="0" y="0"/>
                  </a:lnTo>
                  <a:lnTo>
                    <a:pt x="0" y="69632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41477" y="409530"/>
            <a:ext cx="2912110" cy="5010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3100" dirty="0"/>
              <a:t>Future</a:t>
            </a:r>
            <a:r>
              <a:rPr sz="3100" spc="5" dirty="0"/>
              <a:t> </a:t>
            </a:r>
            <a:r>
              <a:rPr sz="3100" spc="70" dirty="0"/>
              <a:t>Horizons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1491496" y="1390337"/>
            <a:ext cx="2552065" cy="384015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" spc="-25" dirty="0">
                <a:solidFill>
                  <a:srgbClr val="3C3838"/>
                </a:solidFill>
                <a:latin typeface="Trebuchet MS"/>
                <a:cs typeface="Trebuchet MS"/>
              </a:rPr>
              <a:t>We</a:t>
            </a:r>
            <a:r>
              <a:rPr lang="en-IN" sz="1550" spc="-25" dirty="0">
                <a:solidFill>
                  <a:srgbClr val="3C3838"/>
                </a:solidFill>
                <a:latin typeface="Trebuchet MS"/>
                <a:cs typeface="Trebuchet MS"/>
              </a:rPr>
              <a:t>a</a:t>
            </a:r>
            <a:r>
              <a:rPr sz="1550" spc="-25" dirty="0">
                <a:solidFill>
                  <a:srgbClr val="3C3838"/>
                </a:solidFill>
                <a:latin typeface="Trebuchet MS"/>
                <a:cs typeface="Trebuchet MS"/>
              </a:rPr>
              <a:t>r</a:t>
            </a:r>
            <a:r>
              <a:rPr lang="en-IN" sz="1550" spc="-25" dirty="0">
                <a:solidFill>
                  <a:srgbClr val="3C3838"/>
                </a:solidFill>
                <a:latin typeface="Trebuchet MS"/>
                <a:cs typeface="Trebuchet MS"/>
              </a:rPr>
              <a:t>a</a:t>
            </a:r>
            <a:r>
              <a:rPr sz="1550" spc="-25" dirty="0" err="1">
                <a:solidFill>
                  <a:srgbClr val="3C3838"/>
                </a:solidFill>
                <a:latin typeface="Trebuchet MS"/>
                <a:cs typeface="Trebuchet MS"/>
              </a:rPr>
              <a:t>ble</a:t>
            </a:r>
            <a:r>
              <a:rPr sz="1550" spc="-55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550" spc="-10" dirty="0" err="1">
                <a:solidFill>
                  <a:srgbClr val="3C3838"/>
                </a:solidFill>
                <a:latin typeface="Trebuchet MS"/>
                <a:cs typeface="Trebuchet MS"/>
              </a:rPr>
              <a:t>Integr</a:t>
            </a:r>
            <a:r>
              <a:rPr lang="en-IN" sz="1550" spc="-10" dirty="0">
                <a:solidFill>
                  <a:srgbClr val="3C3838"/>
                </a:solidFill>
                <a:latin typeface="Trebuchet MS"/>
                <a:cs typeface="Trebuchet MS"/>
              </a:rPr>
              <a:t>a</a:t>
            </a:r>
            <a:r>
              <a:rPr sz="1550" spc="-10" dirty="0" err="1">
                <a:solidFill>
                  <a:srgbClr val="3C3838"/>
                </a:solidFill>
                <a:latin typeface="Trebuchet MS"/>
                <a:cs typeface="Trebuchet MS"/>
              </a:rPr>
              <a:t>tion</a:t>
            </a:r>
            <a:endParaRPr sz="15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250" spc="-10" dirty="0">
                <a:solidFill>
                  <a:srgbClr val="3C3838"/>
                </a:solidFill>
                <a:latin typeface="Roboto"/>
                <a:cs typeface="Roboto"/>
              </a:rPr>
              <a:t>Sync</a:t>
            </a:r>
            <a:r>
              <a:rPr sz="12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C3838"/>
                </a:solidFill>
                <a:latin typeface="Roboto"/>
                <a:cs typeface="Roboto"/>
              </a:rPr>
              <a:t>with</a:t>
            </a:r>
            <a:r>
              <a:rPr sz="12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C3838"/>
                </a:solidFill>
                <a:latin typeface="Roboto"/>
                <a:cs typeface="Roboto"/>
              </a:rPr>
              <a:t>smart</a:t>
            </a:r>
            <a:r>
              <a:rPr sz="12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C3838"/>
                </a:solidFill>
                <a:latin typeface="Roboto"/>
                <a:cs typeface="Roboto"/>
              </a:rPr>
              <a:t>fitness</a:t>
            </a:r>
            <a:r>
              <a:rPr sz="12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3C3838"/>
                </a:solidFill>
                <a:latin typeface="Roboto"/>
                <a:cs typeface="Roboto"/>
              </a:rPr>
              <a:t>trackers.</a:t>
            </a:r>
            <a:endParaRPr sz="12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50" spc="120" dirty="0">
                <a:solidFill>
                  <a:srgbClr val="3C3838"/>
                </a:solidFill>
                <a:latin typeface="Trebuchet MS"/>
                <a:cs typeface="Trebuchet MS"/>
              </a:rPr>
              <a:t>AR/VR</a:t>
            </a:r>
            <a:r>
              <a:rPr sz="1550" spc="-5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3C3838"/>
                </a:solidFill>
                <a:latin typeface="Trebuchet MS"/>
                <a:cs typeface="Trebuchet MS"/>
              </a:rPr>
              <a:t>Immersion</a:t>
            </a:r>
            <a:endParaRPr sz="15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250" spc="-50" dirty="0">
                <a:solidFill>
                  <a:srgbClr val="3C3838"/>
                </a:solidFill>
                <a:latin typeface="Roboto"/>
                <a:cs typeface="Roboto"/>
              </a:rPr>
              <a:t>Next-</a:t>
            </a:r>
            <a:r>
              <a:rPr sz="1250" spc="-10" dirty="0">
                <a:solidFill>
                  <a:srgbClr val="3C3838"/>
                </a:solidFill>
                <a:latin typeface="Roboto"/>
                <a:cs typeface="Roboto"/>
              </a:rPr>
              <a:t>level</a:t>
            </a:r>
            <a:r>
              <a:rPr sz="1250" spc="-1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250" spc="-20" dirty="0">
                <a:solidFill>
                  <a:srgbClr val="3C3838"/>
                </a:solidFill>
                <a:latin typeface="Roboto"/>
                <a:cs typeface="Roboto"/>
              </a:rPr>
              <a:t>interactive</a:t>
            </a:r>
            <a:r>
              <a:rPr sz="1250" spc="-10" dirty="0">
                <a:solidFill>
                  <a:srgbClr val="3C3838"/>
                </a:solidFill>
                <a:latin typeface="Roboto"/>
                <a:cs typeface="Roboto"/>
              </a:rPr>
              <a:t> training.</a:t>
            </a:r>
            <a:endParaRPr sz="12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50" dirty="0">
                <a:solidFill>
                  <a:srgbClr val="3C3838"/>
                </a:solidFill>
                <a:latin typeface="Trebuchet MS"/>
                <a:cs typeface="Trebuchet MS"/>
              </a:rPr>
              <a:t>Voice</a:t>
            </a:r>
            <a:r>
              <a:rPr sz="1550" spc="3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550" spc="-10" dirty="0">
                <a:solidFill>
                  <a:srgbClr val="3C3838"/>
                </a:solidFill>
                <a:latin typeface="Trebuchet MS"/>
                <a:cs typeface="Trebuchet MS"/>
              </a:rPr>
              <a:t>Assist</a:t>
            </a:r>
            <a:r>
              <a:rPr lang="en-IN" sz="1550" spc="-10" dirty="0">
                <a:solidFill>
                  <a:srgbClr val="3C3838"/>
                </a:solidFill>
                <a:latin typeface="Trebuchet MS"/>
                <a:cs typeface="Trebuchet MS"/>
              </a:rPr>
              <a:t>a</a:t>
            </a:r>
            <a:r>
              <a:rPr sz="1550" spc="-10" dirty="0" err="1">
                <a:solidFill>
                  <a:srgbClr val="3C3838"/>
                </a:solidFill>
                <a:latin typeface="Trebuchet MS"/>
                <a:cs typeface="Trebuchet MS"/>
              </a:rPr>
              <a:t>nce</a:t>
            </a:r>
            <a:endParaRPr sz="15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250" spc="-35" dirty="0">
                <a:solidFill>
                  <a:srgbClr val="3C3838"/>
                </a:solidFill>
                <a:latin typeface="Roboto"/>
                <a:cs typeface="Roboto"/>
              </a:rPr>
              <a:t>Hands-</a:t>
            </a:r>
            <a:r>
              <a:rPr sz="1250" dirty="0">
                <a:solidFill>
                  <a:srgbClr val="3C3838"/>
                </a:solidFill>
                <a:latin typeface="Roboto"/>
                <a:cs typeface="Roboto"/>
              </a:rPr>
              <a:t>free</a:t>
            </a:r>
            <a:r>
              <a:rPr sz="1250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3C3838"/>
                </a:solidFill>
                <a:latin typeface="Roboto"/>
                <a:cs typeface="Roboto"/>
              </a:rPr>
              <a:t>guidance</a:t>
            </a:r>
            <a:r>
              <a:rPr sz="1250" spc="-6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250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sz="1250" spc="-6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3C3838"/>
                </a:solidFill>
                <a:latin typeface="Roboto"/>
                <a:cs typeface="Roboto"/>
              </a:rPr>
              <a:t>support.</a:t>
            </a:r>
            <a:endParaRPr sz="12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50" dirty="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lang="en-IN" sz="1550" dirty="0">
                <a:solidFill>
                  <a:srgbClr val="3C3838"/>
                </a:solidFill>
                <a:latin typeface="Trebuchet MS"/>
                <a:cs typeface="Trebuchet MS"/>
              </a:rPr>
              <a:t>Personalized workout plan</a:t>
            </a:r>
            <a:endParaRPr sz="15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1250" spc="-10" dirty="0">
                <a:solidFill>
                  <a:srgbClr val="3C3838"/>
                </a:solidFill>
                <a:latin typeface="Roboto"/>
                <a:cs typeface="Roboto"/>
              </a:rPr>
              <a:t>Holistic wellness</a:t>
            </a:r>
            <a:r>
              <a:rPr sz="1250" spc="-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250" spc="-10" dirty="0">
                <a:solidFill>
                  <a:srgbClr val="3C3838"/>
                </a:solidFill>
                <a:latin typeface="Roboto"/>
                <a:cs typeface="Roboto"/>
              </a:rPr>
              <a:t>solutions.</a:t>
            </a:r>
            <a:endParaRPr sz="12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250" dirty="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50" dirty="0">
              <a:latin typeface="Roboto"/>
              <a:cs typeface="Roboto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rcRect b="16814"/>
          <a:stretch>
            <a:fillRect/>
          </a:stretch>
        </p:blipFill>
        <p:spPr>
          <a:xfrm>
            <a:off x="549229" y="1244150"/>
            <a:ext cx="801578" cy="3959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77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135" dirty="0"/>
              <a:t>Empowering</a:t>
            </a:r>
            <a:r>
              <a:rPr spc="-130" dirty="0"/>
              <a:t> </a:t>
            </a:r>
            <a:r>
              <a:rPr spc="85" dirty="0"/>
              <a:t>Fitness</a:t>
            </a:r>
            <a:r>
              <a:rPr spc="-130" dirty="0"/>
              <a:t> </a:t>
            </a:r>
            <a:r>
              <a:rPr spc="-45" dirty="0"/>
              <a:t>for</a:t>
            </a:r>
            <a:r>
              <a:rPr spc="-320" dirty="0"/>
              <a:t> </a:t>
            </a:r>
            <a:r>
              <a:rPr spc="25" dirty="0"/>
              <a:t>All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00075" y="2647949"/>
            <a:ext cx="3295650" cy="1276350"/>
            <a:chOff x="600075" y="2647949"/>
            <a:chExt cx="3295650" cy="1276350"/>
          </a:xfrm>
        </p:grpSpPr>
        <p:sp>
          <p:nvSpPr>
            <p:cNvPr id="4" name="object 4"/>
            <p:cNvSpPr/>
            <p:nvPr/>
          </p:nvSpPr>
          <p:spPr>
            <a:xfrm>
              <a:off x="604837" y="2652712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3234512" y="0"/>
                  </a:moveTo>
                  <a:lnTo>
                    <a:pt x="51619" y="0"/>
                  </a:lnTo>
                  <a:lnTo>
                    <a:pt x="48026" y="355"/>
                  </a:lnTo>
                  <a:lnTo>
                    <a:pt x="13618" y="18745"/>
                  </a:lnTo>
                  <a:lnTo>
                    <a:pt x="0" y="51612"/>
                  </a:lnTo>
                  <a:lnTo>
                    <a:pt x="0" y="1211580"/>
                  </a:lnTo>
                  <a:lnTo>
                    <a:pt x="0" y="1215212"/>
                  </a:lnTo>
                  <a:lnTo>
                    <a:pt x="18747" y="1253210"/>
                  </a:lnTo>
                  <a:lnTo>
                    <a:pt x="51619" y="1266825"/>
                  </a:lnTo>
                  <a:lnTo>
                    <a:pt x="3234512" y="1266825"/>
                  </a:lnTo>
                  <a:lnTo>
                    <a:pt x="3272510" y="1248079"/>
                  </a:lnTo>
                  <a:lnTo>
                    <a:pt x="3286125" y="1215212"/>
                  </a:lnTo>
                  <a:lnTo>
                    <a:pt x="3286125" y="51612"/>
                  </a:lnTo>
                  <a:lnTo>
                    <a:pt x="3267379" y="13614"/>
                  </a:lnTo>
                  <a:lnTo>
                    <a:pt x="3238093" y="355"/>
                  </a:lnTo>
                  <a:lnTo>
                    <a:pt x="3234512" y="0"/>
                  </a:lnTo>
                  <a:close/>
                </a:path>
              </a:pathLst>
            </a:custGeom>
            <a:solidFill>
              <a:srgbClr val="E1E1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04837" y="2652712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0" y="12115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1" y="48018"/>
                  </a:lnTo>
                  <a:lnTo>
                    <a:pt x="1061" y="44462"/>
                  </a:lnTo>
                  <a:lnTo>
                    <a:pt x="1771" y="40906"/>
                  </a:lnTo>
                  <a:lnTo>
                    <a:pt x="2818" y="37452"/>
                  </a:lnTo>
                  <a:lnTo>
                    <a:pt x="4207" y="34099"/>
                  </a:lnTo>
                  <a:lnTo>
                    <a:pt x="5590" y="30746"/>
                  </a:lnTo>
                  <a:lnTo>
                    <a:pt x="24551" y="9309"/>
                  </a:lnTo>
                  <a:lnTo>
                    <a:pt x="27567" y="7289"/>
                  </a:lnTo>
                  <a:lnTo>
                    <a:pt x="44465" y="1066"/>
                  </a:lnTo>
                  <a:lnTo>
                    <a:pt x="48026" y="355"/>
                  </a:lnTo>
                  <a:lnTo>
                    <a:pt x="51619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81921" y="34099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1211580"/>
                  </a:lnTo>
                  <a:lnTo>
                    <a:pt x="3286125" y="1215212"/>
                  </a:lnTo>
                  <a:lnTo>
                    <a:pt x="3285769" y="1218793"/>
                  </a:lnTo>
                  <a:lnTo>
                    <a:pt x="3285058" y="1222362"/>
                  </a:lnTo>
                  <a:lnTo>
                    <a:pt x="3284359" y="1225918"/>
                  </a:lnTo>
                  <a:lnTo>
                    <a:pt x="3261575" y="1257515"/>
                  </a:lnTo>
                  <a:lnTo>
                    <a:pt x="3241649" y="1265758"/>
                  </a:lnTo>
                  <a:lnTo>
                    <a:pt x="3238093" y="1266469"/>
                  </a:lnTo>
                  <a:lnTo>
                    <a:pt x="3234512" y="1266825"/>
                  </a:lnTo>
                  <a:lnTo>
                    <a:pt x="3230880" y="1266825"/>
                  </a:lnTo>
                  <a:lnTo>
                    <a:pt x="55245" y="1266825"/>
                  </a:lnTo>
                  <a:lnTo>
                    <a:pt x="51619" y="1266825"/>
                  </a:lnTo>
                  <a:lnTo>
                    <a:pt x="48026" y="1266469"/>
                  </a:lnTo>
                  <a:lnTo>
                    <a:pt x="44465" y="1265758"/>
                  </a:lnTo>
                  <a:lnTo>
                    <a:pt x="40907" y="1265059"/>
                  </a:lnTo>
                  <a:lnTo>
                    <a:pt x="9311" y="1242263"/>
                  </a:lnTo>
                  <a:lnTo>
                    <a:pt x="7292" y="1239253"/>
                  </a:lnTo>
                  <a:lnTo>
                    <a:pt x="5590" y="1236078"/>
                  </a:lnTo>
                  <a:lnTo>
                    <a:pt x="4207" y="1232725"/>
                  </a:lnTo>
                  <a:lnTo>
                    <a:pt x="2818" y="1229372"/>
                  </a:lnTo>
                  <a:lnTo>
                    <a:pt x="1771" y="1225918"/>
                  </a:lnTo>
                  <a:lnTo>
                    <a:pt x="1061" y="1222362"/>
                  </a:lnTo>
                  <a:lnTo>
                    <a:pt x="351" y="1218793"/>
                  </a:lnTo>
                  <a:lnTo>
                    <a:pt x="0" y="1215212"/>
                  </a:lnTo>
                  <a:lnTo>
                    <a:pt x="0" y="1211580"/>
                  </a:lnTo>
                  <a:close/>
                </a:path>
              </a:pathLst>
            </a:custGeom>
            <a:ln w="9525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8350" y="2811462"/>
            <a:ext cx="2710180" cy="865878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75" dirty="0" err="1">
                <a:solidFill>
                  <a:srgbClr val="3C3838"/>
                </a:solidFill>
                <a:latin typeface="Trebuchet MS"/>
                <a:cs typeface="Trebuchet MS"/>
              </a:rPr>
              <a:t>Accessible</a:t>
            </a:r>
            <a:r>
              <a:rPr sz="1650" spc="455" dirty="0" err="1">
                <a:solidFill>
                  <a:srgbClr val="3C3838"/>
                </a:solidFill>
                <a:latin typeface="Trebuchet MS"/>
                <a:cs typeface="Trebuchet MS"/>
              </a:rPr>
              <a:t>s</a:t>
            </a:r>
            <a:r>
              <a:rPr sz="1650" spc="-95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-10" dirty="0">
                <a:solidFill>
                  <a:srgbClr val="3C3838"/>
                </a:solidFill>
                <a:latin typeface="Trebuchet MS"/>
                <a:cs typeface="Trebuchet MS"/>
              </a:rPr>
              <a:t>Afford</a:t>
            </a:r>
            <a:r>
              <a:rPr lang="en-IN" sz="1650" spc="-10" dirty="0">
                <a:solidFill>
                  <a:srgbClr val="3C3838"/>
                </a:solidFill>
                <a:latin typeface="Trebuchet MS"/>
                <a:cs typeface="Trebuchet MS"/>
              </a:rPr>
              <a:t>a</a:t>
            </a:r>
            <a:r>
              <a:rPr sz="1650" spc="-10" dirty="0" err="1">
                <a:solidFill>
                  <a:srgbClr val="3C3838"/>
                </a:solidFill>
                <a:latin typeface="Trebuchet MS"/>
                <a:cs typeface="Trebuchet MS"/>
              </a:rPr>
              <a:t>ble</a:t>
            </a:r>
            <a:endParaRPr sz="1650" dirty="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Democratizing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personalized</a:t>
            </a:r>
            <a:r>
              <a:rPr sz="1350" spc="-1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fitness training.</a:t>
            </a:r>
            <a:endParaRPr sz="1350" dirty="0">
              <a:latin typeface="Roboto"/>
              <a:cs typeface="Robo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067175" y="2647949"/>
            <a:ext cx="3295650" cy="1276350"/>
            <a:chOff x="4067175" y="2647949"/>
            <a:chExt cx="3295650" cy="1276350"/>
          </a:xfrm>
        </p:grpSpPr>
        <p:sp>
          <p:nvSpPr>
            <p:cNvPr id="8" name="object 8"/>
            <p:cNvSpPr/>
            <p:nvPr/>
          </p:nvSpPr>
          <p:spPr>
            <a:xfrm>
              <a:off x="4071937" y="2652712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3234512" y="0"/>
                  </a:moveTo>
                  <a:lnTo>
                    <a:pt x="51612" y="0"/>
                  </a:lnTo>
                  <a:lnTo>
                    <a:pt x="48031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211580"/>
                  </a:lnTo>
                  <a:lnTo>
                    <a:pt x="0" y="1215212"/>
                  </a:lnTo>
                  <a:lnTo>
                    <a:pt x="18745" y="1253210"/>
                  </a:lnTo>
                  <a:lnTo>
                    <a:pt x="51612" y="1266825"/>
                  </a:lnTo>
                  <a:lnTo>
                    <a:pt x="3234512" y="1266825"/>
                  </a:lnTo>
                  <a:lnTo>
                    <a:pt x="3272510" y="1248079"/>
                  </a:lnTo>
                  <a:lnTo>
                    <a:pt x="3286125" y="1215212"/>
                  </a:lnTo>
                  <a:lnTo>
                    <a:pt x="3286125" y="51612"/>
                  </a:lnTo>
                  <a:lnTo>
                    <a:pt x="3267379" y="13614"/>
                  </a:lnTo>
                  <a:lnTo>
                    <a:pt x="3238093" y="355"/>
                  </a:lnTo>
                  <a:lnTo>
                    <a:pt x="3234512" y="0"/>
                  </a:lnTo>
                  <a:close/>
                </a:path>
              </a:pathLst>
            </a:custGeom>
            <a:solidFill>
              <a:srgbClr val="E1E1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071937" y="2652712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0" y="12115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27571" y="7289"/>
                  </a:lnTo>
                  <a:lnTo>
                    <a:pt x="44462" y="1066"/>
                  </a:lnTo>
                  <a:lnTo>
                    <a:pt x="48031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1211580"/>
                  </a:lnTo>
                  <a:lnTo>
                    <a:pt x="3286125" y="1215212"/>
                  </a:lnTo>
                  <a:lnTo>
                    <a:pt x="3285769" y="1218793"/>
                  </a:lnTo>
                  <a:lnTo>
                    <a:pt x="3285058" y="1222362"/>
                  </a:lnTo>
                  <a:lnTo>
                    <a:pt x="3284359" y="1225918"/>
                  </a:lnTo>
                  <a:lnTo>
                    <a:pt x="3269945" y="1250645"/>
                  </a:lnTo>
                  <a:lnTo>
                    <a:pt x="3267379" y="1253210"/>
                  </a:lnTo>
                  <a:lnTo>
                    <a:pt x="3241649" y="1265758"/>
                  </a:lnTo>
                  <a:lnTo>
                    <a:pt x="3238093" y="1266469"/>
                  </a:lnTo>
                  <a:lnTo>
                    <a:pt x="3234512" y="1266825"/>
                  </a:lnTo>
                  <a:lnTo>
                    <a:pt x="3230880" y="1266825"/>
                  </a:lnTo>
                  <a:lnTo>
                    <a:pt x="55245" y="1266825"/>
                  </a:lnTo>
                  <a:lnTo>
                    <a:pt x="51612" y="1266825"/>
                  </a:lnTo>
                  <a:lnTo>
                    <a:pt x="48031" y="1266469"/>
                  </a:lnTo>
                  <a:lnTo>
                    <a:pt x="44462" y="1265758"/>
                  </a:lnTo>
                  <a:lnTo>
                    <a:pt x="40906" y="1265059"/>
                  </a:lnTo>
                  <a:lnTo>
                    <a:pt x="9309" y="1242263"/>
                  </a:lnTo>
                  <a:lnTo>
                    <a:pt x="7289" y="1239253"/>
                  </a:lnTo>
                  <a:lnTo>
                    <a:pt x="1066" y="1222362"/>
                  </a:lnTo>
                  <a:lnTo>
                    <a:pt x="355" y="1218793"/>
                  </a:lnTo>
                  <a:lnTo>
                    <a:pt x="0" y="1215212"/>
                  </a:lnTo>
                  <a:lnTo>
                    <a:pt x="0" y="1211580"/>
                  </a:lnTo>
                  <a:close/>
                </a:path>
              </a:pathLst>
            </a:custGeom>
            <a:ln w="9525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235450" y="2811462"/>
            <a:ext cx="2957195" cy="6267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spc="-25" dirty="0">
                <a:solidFill>
                  <a:srgbClr val="3C3838"/>
                </a:solidFill>
                <a:latin typeface="Trebuchet MS"/>
                <a:cs typeface="Trebuchet MS"/>
              </a:rPr>
              <a:t>S</a:t>
            </a:r>
            <a:r>
              <a:rPr lang="en-IN" sz="1650" spc="-25" dirty="0">
                <a:solidFill>
                  <a:srgbClr val="3C3838"/>
                </a:solidFill>
                <a:latin typeface="Trebuchet MS"/>
                <a:cs typeface="Trebuchet MS"/>
              </a:rPr>
              <a:t>a</a:t>
            </a:r>
            <a:r>
              <a:rPr sz="1650" spc="-25" dirty="0">
                <a:solidFill>
                  <a:srgbClr val="3C3838"/>
                </a:solidFill>
                <a:latin typeface="Trebuchet MS"/>
                <a:cs typeface="Trebuchet MS"/>
              </a:rPr>
              <a:t>fer</a:t>
            </a:r>
            <a:r>
              <a:rPr sz="1650" spc="-14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60" dirty="0">
                <a:solidFill>
                  <a:srgbClr val="3C3838"/>
                </a:solidFill>
                <a:latin typeface="Trebuchet MS"/>
                <a:cs typeface="Trebuchet MS"/>
              </a:rPr>
              <a:t>Workouts</a:t>
            </a:r>
            <a:endParaRPr sz="1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Real-</a:t>
            </a:r>
            <a:r>
              <a:rPr sz="1350" spc="-25" dirty="0">
                <a:solidFill>
                  <a:srgbClr val="3C3838"/>
                </a:solidFill>
                <a:latin typeface="Roboto"/>
                <a:cs typeface="Roboto"/>
              </a:rPr>
              <a:t>time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feedback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reduces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injury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risk.</a:t>
            </a:r>
            <a:endParaRPr sz="1350" dirty="0">
              <a:latin typeface="Roboto"/>
              <a:cs typeface="Roboto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534275" y="2647949"/>
            <a:ext cx="3295650" cy="1276350"/>
            <a:chOff x="7534275" y="2647949"/>
            <a:chExt cx="3295650" cy="1276350"/>
          </a:xfrm>
        </p:grpSpPr>
        <p:sp>
          <p:nvSpPr>
            <p:cNvPr id="12" name="object 12"/>
            <p:cNvSpPr/>
            <p:nvPr/>
          </p:nvSpPr>
          <p:spPr>
            <a:xfrm>
              <a:off x="7539037" y="2652712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3234512" y="0"/>
                  </a:moveTo>
                  <a:lnTo>
                    <a:pt x="51612" y="0"/>
                  </a:lnTo>
                  <a:lnTo>
                    <a:pt x="48018" y="355"/>
                  </a:lnTo>
                  <a:lnTo>
                    <a:pt x="13614" y="18745"/>
                  </a:lnTo>
                  <a:lnTo>
                    <a:pt x="0" y="51612"/>
                  </a:lnTo>
                  <a:lnTo>
                    <a:pt x="0" y="1211580"/>
                  </a:lnTo>
                  <a:lnTo>
                    <a:pt x="0" y="1215212"/>
                  </a:lnTo>
                  <a:lnTo>
                    <a:pt x="18745" y="1253210"/>
                  </a:lnTo>
                  <a:lnTo>
                    <a:pt x="51612" y="1266825"/>
                  </a:lnTo>
                  <a:lnTo>
                    <a:pt x="3234512" y="1266825"/>
                  </a:lnTo>
                  <a:lnTo>
                    <a:pt x="3272510" y="1248079"/>
                  </a:lnTo>
                  <a:lnTo>
                    <a:pt x="3286125" y="1215212"/>
                  </a:lnTo>
                  <a:lnTo>
                    <a:pt x="3286125" y="51612"/>
                  </a:lnTo>
                  <a:lnTo>
                    <a:pt x="3267379" y="13614"/>
                  </a:lnTo>
                  <a:lnTo>
                    <a:pt x="3238093" y="355"/>
                  </a:lnTo>
                  <a:lnTo>
                    <a:pt x="3234512" y="0"/>
                  </a:lnTo>
                  <a:close/>
                </a:path>
              </a:pathLst>
            </a:custGeom>
            <a:solidFill>
              <a:srgbClr val="E1E1E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539037" y="2652712"/>
              <a:ext cx="3286125" cy="1266825"/>
            </a:xfrm>
            <a:custGeom>
              <a:avLst/>
              <a:gdLst/>
              <a:ahLst/>
              <a:cxnLst/>
              <a:rect l="l" t="t" r="r" b="b"/>
              <a:pathLst>
                <a:path w="3286125" h="1266825">
                  <a:moveTo>
                    <a:pt x="0" y="1211580"/>
                  </a:moveTo>
                  <a:lnTo>
                    <a:pt x="0" y="55245"/>
                  </a:lnTo>
                  <a:lnTo>
                    <a:pt x="0" y="51612"/>
                  </a:lnTo>
                  <a:lnTo>
                    <a:pt x="355" y="48018"/>
                  </a:lnTo>
                  <a:lnTo>
                    <a:pt x="1066" y="44462"/>
                  </a:lnTo>
                  <a:lnTo>
                    <a:pt x="1765" y="40906"/>
                  </a:lnTo>
                  <a:lnTo>
                    <a:pt x="2819" y="37452"/>
                  </a:lnTo>
                  <a:lnTo>
                    <a:pt x="4203" y="34099"/>
                  </a:lnTo>
                  <a:lnTo>
                    <a:pt x="5588" y="30746"/>
                  </a:lnTo>
                  <a:lnTo>
                    <a:pt x="7289" y="27571"/>
                  </a:lnTo>
                  <a:lnTo>
                    <a:pt x="9309" y="24549"/>
                  </a:lnTo>
                  <a:lnTo>
                    <a:pt x="11328" y="21539"/>
                  </a:lnTo>
                  <a:lnTo>
                    <a:pt x="13614" y="18745"/>
                  </a:lnTo>
                  <a:lnTo>
                    <a:pt x="16179" y="16179"/>
                  </a:lnTo>
                  <a:lnTo>
                    <a:pt x="18745" y="13614"/>
                  </a:lnTo>
                  <a:lnTo>
                    <a:pt x="34099" y="4203"/>
                  </a:lnTo>
                  <a:lnTo>
                    <a:pt x="37452" y="2819"/>
                  </a:lnTo>
                  <a:lnTo>
                    <a:pt x="40906" y="1765"/>
                  </a:lnTo>
                  <a:lnTo>
                    <a:pt x="44462" y="1066"/>
                  </a:lnTo>
                  <a:lnTo>
                    <a:pt x="48018" y="355"/>
                  </a:lnTo>
                  <a:lnTo>
                    <a:pt x="51612" y="0"/>
                  </a:lnTo>
                  <a:lnTo>
                    <a:pt x="55245" y="0"/>
                  </a:lnTo>
                  <a:lnTo>
                    <a:pt x="3230880" y="0"/>
                  </a:lnTo>
                  <a:lnTo>
                    <a:pt x="3234512" y="0"/>
                  </a:lnTo>
                  <a:lnTo>
                    <a:pt x="3238093" y="355"/>
                  </a:lnTo>
                  <a:lnTo>
                    <a:pt x="3241649" y="1066"/>
                  </a:lnTo>
                  <a:lnTo>
                    <a:pt x="3245218" y="1765"/>
                  </a:lnTo>
                  <a:lnTo>
                    <a:pt x="3248672" y="2819"/>
                  </a:lnTo>
                  <a:lnTo>
                    <a:pt x="3252012" y="4203"/>
                  </a:lnTo>
                  <a:lnTo>
                    <a:pt x="3255378" y="5588"/>
                  </a:lnTo>
                  <a:lnTo>
                    <a:pt x="3258553" y="7289"/>
                  </a:lnTo>
                  <a:lnTo>
                    <a:pt x="3261563" y="9309"/>
                  </a:lnTo>
                  <a:lnTo>
                    <a:pt x="3264585" y="11328"/>
                  </a:lnTo>
                  <a:lnTo>
                    <a:pt x="3267379" y="13614"/>
                  </a:lnTo>
                  <a:lnTo>
                    <a:pt x="3269945" y="16179"/>
                  </a:lnTo>
                  <a:lnTo>
                    <a:pt x="3272510" y="18745"/>
                  </a:lnTo>
                  <a:lnTo>
                    <a:pt x="3285058" y="44462"/>
                  </a:lnTo>
                  <a:lnTo>
                    <a:pt x="3285769" y="48018"/>
                  </a:lnTo>
                  <a:lnTo>
                    <a:pt x="3286125" y="51612"/>
                  </a:lnTo>
                  <a:lnTo>
                    <a:pt x="3286125" y="55245"/>
                  </a:lnTo>
                  <a:lnTo>
                    <a:pt x="3286125" y="1211580"/>
                  </a:lnTo>
                  <a:lnTo>
                    <a:pt x="3286125" y="1215212"/>
                  </a:lnTo>
                  <a:lnTo>
                    <a:pt x="3285769" y="1218793"/>
                  </a:lnTo>
                  <a:lnTo>
                    <a:pt x="3285058" y="1222362"/>
                  </a:lnTo>
                  <a:lnTo>
                    <a:pt x="3284359" y="1225918"/>
                  </a:lnTo>
                  <a:lnTo>
                    <a:pt x="3269945" y="1250645"/>
                  </a:lnTo>
                  <a:lnTo>
                    <a:pt x="3267379" y="1253210"/>
                  </a:lnTo>
                  <a:lnTo>
                    <a:pt x="3241649" y="1265758"/>
                  </a:lnTo>
                  <a:lnTo>
                    <a:pt x="3238093" y="1266469"/>
                  </a:lnTo>
                  <a:lnTo>
                    <a:pt x="3234512" y="1266825"/>
                  </a:lnTo>
                  <a:lnTo>
                    <a:pt x="3230880" y="1266825"/>
                  </a:lnTo>
                  <a:lnTo>
                    <a:pt x="55245" y="1266825"/>
                  </a:lnTo>
                  <a:lnTo>
                    <a:pt x="51612" y="1266825"/>
                  </a:lnTo>
                  <a:lnTo>
                    <a:pt x="48018" y="1266469"/>
                  </a:lnTo>
                  <a:lnTo>
                    <a:pt x="44462" y="1265758"/>
                  </a:lnTo>
                  <a:lnTo>
                    <a:pt x="40906" y="1265059"/>
                  </a:lnTo>
                  <a:lnTo>
                    <a:pt x="16179" y="1250645"/>
                  </a:lnTo>
                  <a:lnTo>
                    <a:pt x="13614" y="1248079"/>
                  </a:lnTo>
                  <a:lnTo>
                    <a:pt x="11328" y="1245285"/>
                  </a:lnTo>
                  <a:lnTo>
                    <a:pt x="9309" y="1242263"/>
                  </a:lnTo>
                  <a:lnTo>
                    <a:pt x="7289" y="1239253"/>
                  </a:lnTo>
                  <a:lnTo>
                    <a:pt x="5588" y="1236078"/>
                  </a:lnTo>
                  <a:lnTo>
                    <a:pt x="4203" y="1232725"/>
                  </a:lnTo>
                  <a:lnTo>
                    <a:pt x="2819" y="1229372"/>
                  </a:lnTo>
                  <a:lnTo>
                    <a:pt x="1765" y="1225918"/>
                  </a:lnTo>
                  <a:lnTo>
                    <a:pt x="1066" y="1222362"/>
                  </a:lnTo>
                  <a:lnTo>
                    <a:pt x="355" y="1218793"/>
                  </a:lnTo>
                  <a:lnTo>
                    <a:pt x="0" y="1215212"/>
                  </a:lnTo>
                  <a:lnTo>
                    <a:pt x="0" y="1211580"/>
                  </a:lnTo>
                  <a:close/>
                </a:path>
              </a:pathLst>
            </a:custGeom>
            <a:ln w="9525">
              <a:solidFill>
                <a:srgbClr val="C7C7D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702550" y="2811462"/>
            <a:ext cx="2732405" cy="9029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50" dirty="0">
                <a:solidFill>
                  <a:srgbClr val="3C3838"/>
                </a:solidFill>
                <a:latin typeface="Trebuchet MS"/>
                <a:cs typeface="Trebuchet MS"/>
              </a:rPr>
              <a:t>Future-</a:t>
            </a:r>
            <a:r>
              <a:rPr sz="1650" spc="50" dirty="0">
                <a:solidFill>
                  <a:srgbClr val="3C3838"/>
                </a:solidFill>
                <a:latin typeface="Trebuchet MS"/>
                <a:cs typeface="Trebuchet MS"/>
              </a:rPr>
              <a:t>Proof</a:t>
            </a:r>
            <a:r>
              <a:rPr sz="1650" spc="140" dirty="0">
                <a:solidFill>
                  <a:srgbClr val="3C3838"/>
                </a:solidFill>
                <a:latin typeface="Trebuchet MS"/>
                <a:cs typeface="Trebuchet MS"/>
              </a:rPr>
              <a:t> </a:t>
            </a:r>
            <a:r>
              <a:rPr sz="1650" spc="40" dirty="0">
                <a:solidFill>
                  <a:srgbClr val="3C3838"/>
                </a:solidFill>
                <a:latin typeface="Trebuchet MS"/>
                <a:cs typeface="Trebuchet MS"/>
              </a:rPr>
              <a:t>Solution</a:t>
            </a:r>
            <a:endParaRPr sz="1650">
              <a:latin typeface="Trebuchet MS"/>
              <a:cs typeface="Trebuchet MS"/>
            </a:endParaRPr>
          </a:p>
          <a:p>
            <a:pPr marL="12700" marR="5080">
              <a:lnSpc>
                <a:spcPct val="134300"/>
              </a:lnSpc>
              <a:spcBef>
                <a:spcPts val="54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Adaptable</a:t>
            </a:r>
            <a:r>
              <a:rPr sz="1350" spc="-5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to</a:t>
            </a:r>
            <a:r>
              <a:rPr sz="1350" spc="-5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evolving</a:t>
            </a:r>
            <a:r>
              <a:rPr sz="1350" spc="-5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fitness</a:t>
            </a:r>
            <a:r>
              <a:rPr sz="1350" spc="-4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needs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tech.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6297" y="4060190"/>
            <a:ext cx="991870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37610" marR="5080" indent="-3725545">
              <a:lnSpc>
                <a:spcPct val="134300"/>
              </a:lnSpc>
              <a:spcBef>
                <a:spcPts val="100"/>
              </a:spcBef>
            </a:pP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The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AI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Virtual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Fitness</a:t>
            </a:r>
            <a:r>
              <a:rPr sz="1350" spc="-5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20" dirty="0">
                <a:solidFill>
                  <a:srgbClr val="3C3838"/>
                </a:solidFill>
                <a:latin typeface="Roboto"/>
                <a:cs typeface="Roboto"/>
              </a:rPr>
              <a:t>Trainer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is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poised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to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become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an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indispensable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tool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home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fitness,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enhancing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motivation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and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ensuring</a:t>
            </a:r>
            <a:r>
              <a:rPr sz="1350" spc="-30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safe,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effective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workouts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dirty="0">
                <a:solidFill>
                  <a:srgbClr val="3C3838"/>
                </a:solidFill>
                <a:latin typeface="Roboto"/>
                <a:cs typeface="Roboto"/>
              </a:rPr>
              <a:t>for</a:t>
            </a:r>
            <a:r>
              <a:rPr sz="1350" spc="-35" dirty="0">
                <a:solidFill>
                  <a:srgbClr val="3C3838"/>
                </a:solidFill>
                <a:latin typeface="Roboto"/>
                <a:cs typeface="Roboto"/>
              </a:rPr>
              <a:t> </a:t>
            </a:r>
            <a:r>
              <a:rPr sz="1350" spc="-10" dirty="0">
                <a:solidFill>
                  <a:srgbClr val="3C3838"/>
                </a:solidFill>
                <a:latin typeface="Roboto"/>
                <a:cs typeface="Roboto"/>
              </a:rPr>
              <a:t>everyone.</a:t>
            </a:r>
            <a:endParaRPr sz="1350">
              <a:latin typeface="Roboto"/>
              <a:cs typeface="Roboto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6509" y="5653138"/>
            <a:ext cx="11413490" cy="786130"/>
            <a:chOff x="16509" y="5653138"/>
            <a:chExt cx="11413490" cy="786130"/>
          </a:xfrm>
        </p:grpSpPr>
        <p:pic>
          <p:nvPicPr>
            <p:cNvPr id="17" name="object 17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80244" y="5926073"/>
              <a:ext cx="1754504" cy="41910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2859" y="5659488"/>
              <a:ext cx="11400790" cy="773430"/>
            </a:xfrm>
            <a:custGeom>
              <a:avLst/>
              <a:gdLst/>
              <a:ahLst/>
              <a:cxnLst/>
              <a:rect l="l" t="t" r="r" b="b"/>
              <a:pathLst>
                <a:path w="11400790" h="773429">
                  <a:moveTo>
                    <a:pt x="11400790" y="0"/>
                  </a:moveTo>
                  <a:lnTo>
                    <a:pt x="0" y="0"/>
                  </a:lnTo>
                  <a:lnTo>
                    <a:pt x="0" y="773048"/>
                  </a:lnTo>
                  <a:lnTo>
                    <a:pt x="11400790" y="773048"/>
                  </a:lnTo>
                  <a:lnTo>
                    <a:pt x="114007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2859" y="5659488"/>
              <a:ext cx="11400790" cy="773430"/>
            </a:xfrm>
            <a:custGeom>
              <a:avLst/>
              <a:gdLst/>
              <a:ahLst/>
              <a:cxnLst/>
              <a:rect l="l" t="t" r="r" b="b"/>
              <a:pathLst>
                <a:path w="11400790" h="773429">
                  <a:moveTo>
                    <a:pt x="0" y="773048"/>
                  </a:moveTo>
                  <a:lnTo>
                    <a:pt x="11400790" y="773048"/>
                  </a:lnTo>
                  <a:lnTo>
                    <a:pt x="11400790" y="0"/>
                  </a:lnTo>
                  <a:lnTo>
                    <a:pt x="0" y="0"/>
                  </a:lnTo>
                  <a:lnTo>
                    <a:pt x="0" y="773048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06722E-4898-5BCB-0569-F89A8701F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631825"/>
            <a:ext cx="10287000" cy="7140416"/>
          </a:xfrm>
        </p:spPr>
        <p:txBody>
          <a:bodyPr/>
          <a:lstStyle/>
          <a:p>
            <a:r>
              <a:rPr lang="en-IN" sz="3200" dirty="0"/>
              <a:t>REFERENCES:</a:t>
            </a:r>
          </a:p>
          <a:p>
            <a:r>
              <a:rPr lang="en-IN" sz="3200" dirty="0">
                <a:hlinkClick r:id="rId2"/>
              </a:rPr>
              <a:t>https://www.jetir.org/view?paper=JETIR2204658</a:t>
            </a:r>
            <a:endParaRPr lang="en-IN" sz="3200" dirty="0"/>
          </a:p>
          <a:p>
            <a:r>
              <a:rPr lang="en-IN" sz="3200" dirty="0">
                <a:hlinkClick r:id="rId3"/>
              </a:rPr>
              <a:t>https://www.researchgate.net/publication/381120381_AI_Fitness_Trainer</a:t>
            </a:r>
            <a:endParaRPr lang="en-IN" sz="3200" dirty="0"/>
          </a:p>
          <a:p>
            <a:r>
              <a:rPr lang="en-IN" sz="3200" dirty="0">
                <a:hlinkClick r:id="rId4"/>
              </a:rPr>
              <a:t>https://ieeexplore.ieee.org/document/9824511</a:t>
            </a:r>
            <a:endParaRPr lang="en-IN" sz="3200" dirty="0"/>
          </a:p>
          <a:p>
            <a:r>
              <a:rPr lang="en-IN" sz="3200" dirty="0">
                <a:hlinkClick r:id="rId5"/>
              </a:rPr>
              <a:t>https://www.ijraset.com/research-paper/virtual-fitness-trainer-using-ai</a:t>
            </a:r>
            <a:endParaRPr lang="en-IN" sz="3200" dirty="0"/>
          </a:p>
          <a:p>
            <a:r>
              <a:rPr lang="en-IN" sz="3200">
                <a:hlinkClick r:id="rId6"/>
              </a:rPr>
              <a:t>https://www.internationaljournalssrg.org/IJCSE/2025/Volume12-Issue6/IJCSE-V12I6P101.pdf</a:t>
            </a:r>
            <a:endParaRPr lang="en-IN" sz="3200"/>
          </a:p>
          <a:p>
            <a:endParaRPr lang="en-IN" sz="3200" dirty="0"/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  <a:p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804291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ABF3-DA27-9946-196E-D373261FE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0" y="2707099"/>
            <a:ext cx="5314315" cy="515526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A0871-831F-6ADC-134F-1CBFD7F13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1500" y="1482407"/>
            <a:ext cx="10287000" cy="276999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7278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338</Words>
  <Application>Microsoft Office PowerPoint</Application>
  <PresentationFormat>Custom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Bahnschrift</vt:lpstr>
      <vt:lpstr>Calibri</vt:lpstr>
      <vt:lpstr>Roboto</vt:lpstr>
      <vt:lpstr>Trebuchet MS</vt:lpstr>
      <vt:lpstr>Office Theme</vt:lpstr>
      <vt:lpstr>FIT VISION AI-Based Virtual Fitness Trainer</vt:lpstr>
      <vt:lpstr>Addressing the Fitness Gap</vt:lpstr>
      <vt:lpstr>System Under the Hood</vt:lpstr>
      <vt:lpstr>Mediapipe Blazepose’s 33 landmarks</vt:lpstr>
      <vt:lpstr>OUTPUT:</vt:lpstr>
      <vt:lpstr>Powering the Platform</vt:lpstr>
      <vt:lpstr>Future Horizons</vt:lpstr>
      <vt:lpstr>Empowering Fitness for All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cp:lastModifiedBy>Aashna Anchan</cp:lastModifiedBy>
  <cp:revision>2</cp:revision>
  <dcterms:created xsi:type="dcterms:W3CDTF">2025-07-30T07:15:05Z</dcterms:created>
  <dcterms:modified xsi:type="dcterms:W3CDTF">2025-10-14T15:24:39Z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2025-07-29T00:00:00Z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2025-07-30T00:00:00Z</vt:filetime>
  </property>
  <property fmtid="{D5CDD505-2E9C-101B-9397-08002B2CF9AE}" pid="5" name="Producer">
    <vt:lpwstr>GPL Ghostscript 9.56.1</vt:lpwstr>
  </property>
</Properties>
</file>